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4" r:id="rId2"/>
    <p:sldId id="279" r:id="rId3"/>
    <p:sldId id="275" r:id="rId4"/>
    <p:sldId id="276" r:id="rId5"/>
    <p:sldId id="277" r:id="rId6"/>
    <p:sldId id="278" r:id="rId7"/>
    <p:sldId id="256" r:id="rId8"/>
    <p:sldId id="269" r:id="rId9"/>
    <p:sldId id="270" r:id="rId10"/>
    <p:sldId id="268" r:id="rId11"/>
    <p:sldId id="273" r:id="rId12"/>
    <p:sldId id="271" r:id="rId13"/>
    <p:sldId id="272" r:id="rId14"/>
    <p:sldId id="262" r:id="rId15"/>
    <p:sldId id="26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7/31/2025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7/31/2025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hyperlink" Target="https://en.wikipedia.org/wiki/Pyromancy"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550844"/>
            <a:ext cx="7766936" cy="804232"/>
          </a:xfrm>
        </p:spPr>
        <p:txBody>
          <a:bodyPr/>
          <a:lstStyle/>
          <a:p>
            <a:pPr algn="l"/>
            <a:r>
              <a:rPr lang="en-US" dirty="0" smtClean="0"/>
              <a:t>MODULE 1</a:t>
            </a:r>
            <a:endParaRPr lang="en-IN" dirty="0"/>
          </a:p>
        </p:txBody>
      </p:sp>
      <p:sp>
        <p:nvSpPr>
          <p:cNvPr id="3" name="Subtitle 2"/>
          <p:cNvSpPr>
            <a:spLocks noGrp="1"/>
          </p:cNvSpPr>
          <p:nvPr>
            <p:ph type="subTitle" idx="1"/>
          </p:nvPr>
        </p:nvSpPr>
        <p:spPr>
          <a:xfrm>
            <a:off x="1507067" y="1509311"/>
            <a:ext cx="7766936" cy="4021155"/>
          </a:xfrm>
        </p:spPr>
        <p:txBody>
          <a:bodyPr>
            <a:normAutofit/>
          </a:bodyPr>
          <a:lstStyle/>
          <a:p>
            <a:pPr algn="l"/>
            <a:r>
              <a:rPr lang="en-IN" dirty="0"/>
              <a:t>Introduction of Japanese language and alphabets; Hiragana and katakana Reading and writing Hiragana and Katakana, 20 Nouns in Hiragana and 10 Nouns in Katakana, Numerals Basic rule of Japanese phonetics.</a:t>
            </a:r>
          </a:p>
        </p:txBody>
      </p:sp>
    </p:spTree>
    <p:extLst>
      <p:ext uri="{BB962C8B-B14F-4D97-AF65-F5344CB8AC3E}">
        <p14:creationId xmlns:p14="http://schemas.microsoft.com/office/powerpoint/2010/main" val="2505674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550844"/>
            <a:ext cx="7766936" cy="804232"/>
          </a:xfrm>
        </p:spPr>
        <p:txBody>
          <a:bodyPr/>
          <a:lstStyle/>
          <a:p>
            <a:r>
              <a:rPr lang="en-IN" dirty="0" smtClean="0"/>
              <a:t>JAPANESE CHARACTERS</a:t>
            </a:r>
            <a:endParaRPr lang="en-IN" dirty="0"/>
          </a:p>
        </p:txBody>
      </p:sp>
      <p:sp>
        <p:nvSpPr>
          <p:cNvPr id="3" name="Subtitle 2"/>
          <p:cNvSpPr>
            <a:spLocks noGrp="1"/>
          </p:cNvSpPr>
          <p:nvPr>
            <p:ph type="subTitle" idx="1"/>
          </p:nvPr>
        </p:nvSpPr>
        <p:spPr>
          <a:xfrm>
            <a:off x="1507067" y="1509311"/>
            <a:ext cx="7766936" cy="4021155"/>
          </a:xfrm>
        </p:spPr>
        <p:txBody>
          <a:bodyPr>
            <a:normAutofit fontScale="92500" lnSpcReduction="10000"/>
          </a:bodyPr>
          <a:lstStyle/>
          <a:p>
            <a:pPr algn="l"/>
            <a:r>
              <a:rPr lang="en-US" dirty="0"/>
              <a:t>The Japanese writing system is composed of three scripts</a:t>
            </a:r>
            <a:endParaRPr lang="en-IN" dirty="0" smtClean="0"/>
          </a:p>
          <a:p>
            <a:pPr marL="285750" indent="-285750" algn="l">
              <a:buFontTx/>
              <a:buChar char="-"/>
            </a:pPr>
            <a:r>
              <a:rPr lang="en-IN" b="1" dirty="0" smtClean="0"/>
              <a:t>Hiragana</a:t>
            </a:r>
            <a:r>
              <a:rPr lang="en-IN" dirty="0" smtClean="0"/>
              <a:t> – 46 letters  (41 consonants and 5 vowels – a, </a:t>
            </a:r>
            <a:r>
              <a:rPr lang="en-IN" dirty="0" err="1" smtClean="0"/>
              <a:t>i</a:t>
            </a:r>
            <a:r>
              <a:rPr lang="en-IN" dirty="0" smtClean="0"/>
              <a:t>, u, e, o)</a:t>
            </a:r>
          </a:p>
          <a:p>
            <a:pPr algn="l"/>
            <a:r>
              <a:rPr lang="en-IN" dirty="0" smtClean="0"/>
              <a:t>For writing Native Japanese (</a:t>
            </a:r>
            <a:r>
              <a:rPr lang="en-IN" dirty="0" err="1" smtClean="0"/>
              <a:t>Eg</a:t>
            </a:r>
            <a:r>
              <a:rPr lang="en-IN" dirty="0" smtClean="0"/>
              <a:t>)</a:t>
            </a:r>
            <a:r>
              <a:rPr lang="ja-JP" altLang="en-US" dirty="0" smtClean="0"/>
              <a:t>　ほん（</a:t>
            </a:r>
            <a:r>
              <a:rPr lang="en-US" altLang="ja-JP" dirty="0" smtClean="0"/>
              <a:t>Book</a:t>
            </a:r>
            <a:r>
              <a:rPr lang="en-IN" altLang="ja-JP" dirty="0"/>
              <a:t>)</a:t>
            </a:r>
            <a:endParaRPr lang="en-IN" dirty="0" smtClean="0"/>
          </a:p>
          <a:p>
            <a:pPr marL="285750" indent="-285750" algn="l">
              <a:buFontTx/>
              <a:buChar char="-"/>
            </a:pPr>
            <a:r>
              <a:rPr lang="en-IN" b="1" dirty="0" smtClean="0"/>
              <a:t>Katakana </a:t>
            </a:r>
            <a:r>
              <a:rPr lang="en-IN" dirty="0" smtClean="0"/>
              <a:t> - 46 letters (41 consonants </a:t>
            </a:r>
            <a:r>
              <a:rPr lang="en-IN" dirty="0"/>
              <a:t>and 5 vowels – a, </a:t>
            </a:r>
            <a:r>
              <a:rPr lang="en-IN" dirty="0" err="1"/>
              <a:t>i</a:t>
            </a:r>
            <a:r>
              <a:rPr lang="en-IN" dirty="0"/>
              <a:t>, u, </a:t>
            </a:r>
            <a:r>
              <a:rPr lang="en-IN" dirty="0" err="1"/>
              <a:t>e,o</a:t>
            </a:r>
            <a:r>
              <a:rPr lang="en-IN" dirty="0" smtClean="0"/>
              <a:t>)</a:t>
            </a:r>
          </a:p>
          <a:p>
            <a:pPr algn="l"/>
            <a:r>
              <a:rPr lang="en-IN" dirty="0" smtClean="0"/>
              <a:t>For writing Foreign language in Japanese </a:t>
            </a:r>
            <a:r>
              <a:rPr lang="en-IN" dirty="0"/>
              <a:t>(</a:t>
            </a:r>
            <a:r>
              <a:rPr lang="en-IN" dirty="0" err="1"/>
              <a:t>Eg</a:t>
            </a:r>
            <a:r>
              <a:rPr lang="en-IN" dirty="0" smtClean="0"/>
              <a:t>) </a:t>
            </a:r>
            <a:r>
              <a:rPr lang="ja-JP" altLang="en-US" dirty="0" smtClean="0"/>
              <a:t>コ</a:t>
            </a:r>
            <a:r>
              <a:rPr lang="ja-JP" altLang="en-US" dirty="0"/>
              <a:t>ーヒ</a:t>
            </a:r>
            <a:r>
              <a:rPr lang="ja-JP" altLang="en-US" dirty="0" smtClean="0"/>
              <a:t>ー（</a:t>
            </a:r>
            <a:r>
              <a:rPr lang="en-US" altLang="ja-JP" dirty="0"/>
              <a:t>Coffee</a:t>
            </a:r>
            <a:r>
              <a:rPr lang="ja-JP" altLang="en-US" dirty="0" smtClean="0"/>
              <a:t>）</a:t>
            </a:r>
            <a:endParaRPr lang="en-IN" dirty="0"/>
          </a:p>
          <a:p>
            <a:pPr algn="l"/>
            <a:r>
              <a:rPr lang="en-IN" dirty="0" smtClean="0"/>
              <a:t> </a:t>
            </a:r>
            <a:r>
              <a:rPr lang="en-IN" b="1" dirty="0" smtClean="0"/>
              <a:t>Kanji</a:t>
            </a:r>
            <a:r>
              <a:rPr lang="en-IN" dirty="0" smtClean="0"/>
              <a:t> – More than 10,000 (Originated from china)</a:t>
            </a:r>
          </a:p>
          <a:p>
            <a:pPr algn="l"/>
            <a:r>
              <a:rPr lang="en-IN" dirty="0" smtClean="0"/>
              <a:t>Pictorial representation with two readings </a:t>
            </a:r>
            <a:r>
              <a:rPr lang="en-IN" dirty="0" err="1" smtClean="0"/>
              <a:t>Onyoumi</a:t>
            </a:r>
            <a:r>
              <a:rPr lang="en-IN" dirty="0" smtClean="0"/>
              <a:t>  (Chinese reading) and</a:t>
            </a:r>
          </a:p>
          <a:p>
            <a:pPr algn="l"/>
            <a:r>
              <a:rPr lang="en-IN" dirty="0" smtClean="0"/>
              <a:t> </a:t>
            </a:r>
            <a:r>
              <a:rPr lang="en-IN" dirty="0" err="1" smtClean="0"/>
              <a:t>kunyoumi</a:t>
            </a:r>
            <a:r>
              <a:rPr lang="en-IN" dirty="0" smtClean="0"/>
              <a:t> (Jap reading)</a:t>
            </a:r>
          </a:p>
          <a:p>
            <a:pPr algn="l"/>
            <a:r>
              <a:rPr lang="ja-JP" altLang="en-US" dirty="0" smtClean="0"/>
              <a:t>女　ー</a:t>
            </a:r>
            <a:r>
              <a:rPr lang="en-US" altLang="ja-JP" dirty="0" smtClean="0"/>
              <a:t>Woman</a:t>
            </a:r>
          </a:p>
          <a:p>
            <a:pPr algn="l"/>
            <a:r>
              <a:rPr lang="ja-JP" altLang="en-US" dirty="0" smtClean="0"/>
              <a:t>子ー</a:t>
            </a:r>
            <a:r>
              <a:rPr lang="en-US" altLang="ja-JP" dirty="0" smtClean="0"/>
              <a:t>Child</a:t>
            </a:r>
          </a:p>
          <a:p>
            <a:pPr algn="l"/>
            <a:r>
              <a:rPr lang="ja-JP" altLang="en-US" dirty="0" smtClean="0"/>
              <a:t>男　ー</a:t>
            </a:r>
            <a:r>
              <a:rPr lang="en-US" altLang="ja-JP" dirty="0" smtClean="0"/>
              <a:t>Man</a:t>
            </a:r>
            <a:endParaRPr lang="en-IN" dirty="0" smtClean="0"/>
          </a:p>
          <a:p>
            <a:pPr marL="285750" indent="-285750" algn="l">
              <a:buFontTx/>
              <a:buChar char="-"/>
            </a:pPr>
            <a:endParaRPr lang="en-IN" dirty="0"/>
          </a:p>
        </p:txBody>
      </p:sp>
    </p:spTree>
    <p:extLst>
      <p:ext uri="{BB962C8B-B14F-4D97-AF65-F5344CB8AC3E}">
        <p14:creationId xmlns:p14="http://schemas.microsoft.com/office/powerpoint/2010/main" val="1566415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550844"/>
            <a:ext cx="7766936" cy="804232"/>
          </a:xfrm>
        </p:spPr>
        <p:txBody>
          <a:bodyPr/>
          <a:lstStyle/>
          <a:p>
            <a:pPr algn="l"/>
            <a:r>
              <a:rPr lang="en-IN" dirty="0" smtClean="0"/>
              <a:t>  ORIGIN OF KANJI</a:t>
            </a:r>
            <a:endParaRPr lang="en-IN" dirty="0"/>
          </a:p>
        </p:txBody>
      </p:sp>
      <p:sp>
        <p:nvSpPr>
          <p:cNvPr id="3" name="Subtitle 2"/>
          <p:cNvSpPr>
            <a:spLocks noGrp="1"/>
          </p:cNvSpPr>
          <p:nvPr>
            <p:ph type="subTitle" idx="1"/>
          </p:nvPr>
        </p:nvSpPr>
        <p:spPr>
          <a:xfrm>
            <a:off x="1507067" y="1509311"/>
            <a:ext cx="7766936" cy="4021155"/>
          </a:xfrm>
        </p:spPr>
        <p:txBody>
          <a:bodyPr>
            <a:normAutofit fontScale="92500" lnSpcReduction="10000"/>
          </a:bodyPr>
          <a:lstStyle/>
          <a:p>
            <a:pPr marL="285750" indent="-285750" algn="l">
              <a:buFontTx/>
              <a:buChar char="-"/>
            </a:pPr>
            <a:r>
              <a:rPr lang="en-US" dirty="0"/>
              <a:t>Kanji was born around 3,300 years ago in China</a:t>
            </a:r>
            <a:r>
              <a:rPr lang="en-US" dirty="0" smtClean="0"/>
              <a:t>,</a:t>
            </a:r>
          </a:p>
          <a:p>
            <a:pPr algn="l"/>
            <a:r>
              <a:rPr lang="en-US" dirty="0" smtClean="0"/>
              <a:t>during </a:t>
            </a:r>
            <a:r>
              <a:rPr lang="en-US" dirty="0"/>
              <a:t>the Shang </a:t>
            </a:r>
            <a:r>
              <a:rPr lang="en-US" dirty="0" smtClean="0"/>
              <a:t>dynasty or Yin </a:t>
            </a:r>
            <a:r>
              <a:rPr lang="en-US" dirty="0"/>
              <a:t>dynasty. </a:t>
            </a:r>
            <a:endParaRPr lang="en-US" dirty="0" smtClean="0"/>
          </a:p>
          <a:p>
            <a:pPr marL="285750" indent="-285750" algn="l">
              <a:buFontTx/>
              <a:buChar char="-"/>
            </a:pPr>
            <a:r>
              <a:rPr lang="en-US" dirty="0" smtClean="0"/>
              <a:t>It </a:t>
            </a:r>
            <a:r>
              <a:rPr lang="en-US" dirty="0"/>
              <a:t>wasn’t even thought of as a writing system until the Zhou </a:t>
            </a:r>
            <a:r>
              <a:rPr lang="en-US" dirty="0" smtClean="0"/>
              <a:t>dynasty</a:t>
            </a:r>
          </a:p>
          <a:p>
            <a:pPr algn="l"/>
            <a:r>
              <a:rPr lang="en-US" dirty="0"/>
              <a:t>People relied heavily on rain if they wanted to be able to harvest their crops and eat. So they turned to the Gods, and in order to understand their answers, they would practice </a:t>
            </a:r>
            <a:r>
              <a:rPr lang="en-US" dirty="0" err="1">
                <a:hlinkClick r:id="rId2" tooltip="Pyromancy"/>
              </a:rPr>
              <a:t>pyromancy</a:t>
            </a:r>
            <a:r>
              <a:rPr lang="en-US" dirty="0"/>
              <a:t>, they would burn turtle shells and bones of beasts, on which they would read the cracks that had formed and interpret them in order to predict the rain periods for example.</a:t>
            </a:r>
          </a:p>
          <a:p>
            <a:pPr algn="l"/>
            <a:r>
              <a:rPr lang="en-US" dirty="0"/>
              <a:t>They would copy these cracks on non-burned turtle shells and try to find a meaning. These bones and shells which held those inscriptions were called oracle bones (</a:t>
            </a:r>
            <a:r>
              <a:rPr lang="en-US" dirty="0" err="1"/>
              <a:t>甲骨文字</a:t>
            </a:r>
            <a:r>
              <a:rPr lang="en-US" dirty="0"/>
              <a:t>, </a:t>
            </a:r>
            <a:r>
              <a:rPr lang="en-US" i="1" dirty="0" err="1"/>
              <a:t>kōkotsumoji</a:t>
            </a:r>
            <a:r>
              <a:rPr lang="en-US" i="1" dirty="0"/>
              <a:t>, </a:t>
            </a:r>
            <a:r>
              <a:rPr lang="en-US" dirty="0"/>
              <a:t>in Japanese, which literally means “characters on carapaces/oracle bones”). </a:t>
            </a:r>
            <a:endParaRPr lang="en-US" dirty="0" smtClean="0"/>
          </a:p>
          <a:p>
            <a:pPr algn="l"/>
            <a:r>
              <a:rPr lang="en-US" dirty="0"/>
              <a:t/>
            </a:r>
            <a:br>
              <a:rPr lang="en-US" dirty="0"/>
            </a:br>
            <a:endParaRPr lang="en-IN" dirty="0"/>
          </a:p>
        </p:txBody>
      </p:sp>
      <p:sp>
        <p:nvSpPr>
          <p:cNvPr id="4" name="Subtitle 2"/>
          <p:cNvSpPr txBox="1">
            <a:spLocks/>
          </p:cNvSpPr>
          <p:nvPr/>
        </p:nvSpPr>
        <p:spPr>
          <a:xfrm>
            <a:off x="3850907" y="3709375"/>
            <a:ext cx="4025773" cy="2603289"/>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marL="285750" indent="-285750" algn="l">
              <a:buFontTx/>
              <a:buChar char="-"/>
            </a:pPr>
            <a:endParaRPr lang="en-IN" dirty="0"/>
          </a:p>
        </p:txBody>
      </p:sp>
      <p:pic>
        <p:nvPicPr>
          <p:cNvPr id="5" name="Picture 2" descr="甲骨文字"/>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5537" y="198304"/>
            <a:ext cx="1542361" cy="1740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7188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7067" y="550844"/>
            <a:ext cx="7766936" cy="804232"/>
          </a:xfrm>
        </p:spPr>
        <p:txBody>
          <a:bodyPr/>
          <a:lstStyle/>
          <a:p>
            <a:pPr algn="l"/>
            <a:r>
              <a:rPr lang="en-IN" dirty="0" smtClean="0"/>
              <a:t>  ORIGIN OF KANJI</a:t>
            </a:r>
            <a:endParaRPr lang="en-IN" dirty="0"/>
          </a:p>
        </p:txBody>
      </p:sp>
      <p:sp>
        <p:nvSpPr>
          <p:cNvPr id="4" name="Subtitle 3"/>
          <p:cNvSpPr>
            <a:spLocks noGrp="1"/>
          </p:cNvSpPr>
          <p:nvPr>
            <p:ph type="subTitle" idx="1"/>
          </p:nvPr>
        </p:nvSpPr>
        <p:spPr>
          <a:xfrm>
            <a:off x="1297747" y="1605098"/>
            <a:ext cx="7766936" cy="5045724"/>
          </a:xfrm>
        </p:spPr>
        <p:txBody>
          <a:bodyPr>
            <a:noAutofit/>
          </a:bodyPr>
          <a:lstStyle/>
          <a:p>
            <a:pPr algn="l"/>
            <a:r>
              <a:rPr lang="en-US" sz="2000" dirty="0"/>
              <a:t> Zhou dynasty took the Shang dynasty’s place and ruled the country. They discovered all these cracked carapaces and their interpretations by the people, and realized that it could be a way of communicating between people. A writing system!</a:t>
            </a:r>
          </a:p>
          <a:p>
            <a:pPr algn="l"/>
            <a:r>
              <a:rPr lang="en-US" sz="2000" dirty="0"/>
              <a:t>They had the idea of using the </a:t>
            </a:r>
            <a:r>
              <a:rPr lang="en-US" sz="2000" dirty="0" smtClean="0"/>
              <a:t>characters (ideographs) </a:t>
            </a:r>
            <a:r>
              <a:rPr lang="en-US" sz="2000" dirty="0"/>
              <a:t>that were once used to communicate with the Gods, in order to communicate with other clans, </a:t>
            </a:r>
            <a:r>
              <a:rPr lang="en-US" sz="2000" dirty="0" smtClean="0"/>
              <a:t>houses.</a:t>
            </a:r>
          </a:p>
          <a:p>
            <a:pPr algn="l"/>
            <a:r>
              <a:rPr lang="en-US" sz="2000" dirty="0" smtClean="0"/>
              <a:t>when </a:t>
            </a:r>
            <a:r>
              <a:rPr lang="en-US" sz="2000" dirty="0"/>
              <a:t>the country was united and the Qin dynasty came into the game (around 221 B.C</a:t>
            </a:r>
            <a:r>
              <a:rPr lang="en-US" sz="2000" dirty="0" smtClean="0"/>
              <a:t>.) </a:t>
            </a:r>
            <a:r>
              <a:rPr lang="en-US" sz="2000" dirty="0"/>
              <a:t>the writing system started to get codified and was now the same for the whole </a:t>
            </a:r>
            <a:r>
              <a:rPr lang="en-US" sz="2000" dirty="0" smtClean="0"/>
              <a:t>country for paper work</a:t>
            </a:r>
            <a:endParaRPr lang="en-US" sz="2000" dirty="0"/>
          </a:p>
          <a:p>
            <a:pPr algn="l"/>
            <a:r>
              <a:rPr lang="en-IN" sz="2000" dirty="0" smtClean="0"/>
              <a:t>    </a:t>
            </a:r>
            <a:r>
              <a:rPr lang="en-IN" sz="2000" b="1" dirty="0" smtClean="0"/>
              <a:t>Evolution of Horse kanji</a:t>
            </a:r>
            <a:endParaRPr lang="en-IN" sz="2000" b="1" dirty="0"/>
          </a:p>
        </p:txBody>
      </p:sp>
      <p:pic>
        <p:nvPicPr>
          <p:cNvPr id="1028" name="Picture 4" descr="kanji's evolution"/>
          <p:cNvPicPr>
            <a:picLocks noChangeAspect="1" noChangeArrowheads="1"/>
          </p:cNvPicPr>
          <p:nvPr/>
        </p:nvPicPr>
        <p:blipFill rotWithShape="1">
          <a:blip r:embed="rId2">
            <a:extLst>
              <a:ext uri="{28A0092B-C50C-407E-A947-70E740481C1C}">
                <a14:useLocalDpi xmlns:a14="http://schemas.microsoft.com/office/drawing/2010/main" val="0"/>
              </a:ext>
            </a:extLst>
          </a:blip>
          <a:srcRect t="29792"/>
          <a:stretch/>
        </p:blipFill>
        <p:spPr bwMode="auto">
          <a:xfrm>
            <a:off x="1297747" y="5497418"/>
            <a:ext cx="3952875" cy="726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7231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ORIGIN OF KANJI</a:t>
            </a:r>
            <a:endParaRPr lang="en-IN" dirty="0"/>
          </a:p>
        </p:txBody>
      </p:sp>
      <p:sp>
        <p:nvSpPr>
          <p:cNvPr id="3" name="Content Placeholder 2"/>
          <p:cNvSpPr>
            <a:spLocks noGrp="1"/>
          </p:cNvSpPr>
          <p:nvPr>
            <p:ph idx="1"/>
          </p:nvPr>
        </p:nvSpPr>
        <p:spPr>
          <a:xfrm>
            <a:off x="677334" y="1751683"/>
            <a:ext cx="8596668" cy="4289680"/>
          </a:xfrm>
        </p:spPr>
        <p:txBody>
          <a:bodyPr/>
          <a:lstStyle/>
          <a:p>
            <a:r>
              <a:rPr lang="en-US" dirty="0"/>
              <a:t>Next, around the 6th to the 10th century AD, kanji evolved as people in China </a:t>
            </a:r>
            <a:r>
              <a:rPr lang="en-US" dirty="0" smtClean="0"/>
              <a:t>for faster </a:t>
            </a:r>
            <a:r>
              <a:rPr lang="en-US" dirty="0"/>
              <a:t>and </a:t>
            </a:r>
            <a:r>
              <a:rPr lang="en-US" dirty="0" smtClean="0"/>
              <a:t>accurate writing</a:t>
            </a:r>
            <a:r>
              <a:rPr lang="en-US" dirty="0"/>
              <a:t>, </a:t>
            </a:r>
            <a:r>
              <a:rPr lang="en-US" dirty="0" smtClean="0"/>
              <a:t>creation </a:t>
            </a:r>
            <a:r>
              <a:rPr lang="en-US" dirty="0"/>
              <a:t>of printed style </a:t>
            </a:r>
            <a:r>
              <a:rPr lang="en-US" dirty="0" smtClean="0"/>
              <a:t>kanji</a:t>
            </a:r>
          </a:p>
          <a:p>
            <a:r>
              <a:rPr lang="en-US" dirty="0"/>
              <a:t>Kanji started to spread in Japan </a:t>
            </a:r>
            <a:r>
              <a:rPr lang="en-US" dirty="0" smtClean="0"/>
              <a:t>towards </a:t>
            </a:r>
            <a:r>
              <a:rPr lang="en-US" dirty="0"/>
              <a:t>the end of the 4th century and the beginning of the 5th. </a:t>
            </a:r>
            <a:r>
              <a:rPr lang="en-US" dirty="0" smtClean="0"/>
              <a:t>Imported </a:t>
            </a:r>
            <a:r>
              <a:rPr lang="en-US" dirty="0"/>
              <a:t>by Chinese immigrants via the Korean peninsula</a:t>
            </a:r>
            <a:r>
              <a:rPr lang="en-US" dirty="0" smtClean="0"/>
              <a:t>.</a:t>
            </a:r>
          </a:p>
          <a:p>
            <a:r>
              <a:rPr lang="en-US" dirty="0">
                <a:solidFill>
                  <a:srgbClr val="333333"/>
                </a:solidFill>
                <a:latin typeface="Libre Franklin"/>
              </a:rPr>
              <a:t>various Chinese words and vocabulary that were adapted to fit the Japanese </a:t>
            </a:r>
            <a:r>
              <a:rPr lang="en-US" dirty="0" smtClean="0">
                <a:solidFill>
                  <a:srgbClr val="333333"/>
                </a:solidFill>
                <a:latin typeface="Libre Franklin"/>
              </a:rPr>
              <a:t>pronunciation</a:t>
            </a:r>
            <a:r>
              <a:rPr lang="en-US" dirty="0">
                <a:solidFill>
                  <a:srgbClr val="333333"/>
                </a:solidFill>
                <a:latin typeface="Libre Franklin"/>
              </a:rPr>
              <a:t> </a:t>
            </a:r>
            <a:r>
              <a:rPr lang="en-US" dirty="0" smtClean="0">
                <a:solidFill>
                  <a:srgbClr val="333333"/>
                </a:solidFill>
                <a:latin typeface="Libre Franklin"/>
              </a:rPr>
              <a:t>and</a:t>
            </a:r>
            <a:r>
              <a:rPr lang="en-US" dirty="0" smtClean="0"/>
              <a:t> </a:t>
            </a:r>
            <a:r>
              <a:rPr lang="en-US" dirty="0"/>
              <a:t>Chinese adopted Japanese words into their </a:t>
            </a:r>
            <a:r>
              <a:rPr lang="en-US" dirty="0" smtClean="0"/>
              <a:t>vocabulary and influenced each other</a:t>
            </a:r>
          </a:p>
          <a:p>
            <a:r>
              <a:rPr lang="en-IN" dirty="0"/>
              <a:t>For example, the word for telephone : </a:t>
            </a:r>
            <a:r>
              <a:rPr lang="ja-JP" altLang="en-US" dirty="0"/>
              <a:t>電話 </a:t>
            </a:r>
            <a:r>
              <a:rPr lang="en-IN" dirty="0"/>
              <a:t>is pronounced “</a:t>
            </a:r>
            <a:r>
              <a:rPr lang="en-IN" dirty="0" err="1"/>
              <a:t>denwa</a:t>
            </a:r>
            <a:r>
              <a:rPr lang="en-IN" dirty="0"/>
              <a:t>” in Japanese, and “</a:t>
            </a:r>
            <a:r>
              <a:rPr lang="en-IN" dirty="0" err="1"/>
              <a:t>diànhuà</a:t>
            </a:r>
            <a:r>
              <a:rPr lang="en-IN" dirty="0"/>
              <a:t>” in Chinese. In this particular case, the word was imported from Japan to China.</a:t>
            </a:r>
          </a:p>
        </p:txBody>
      </p:sp>
    </p:spTree>
    <p:extLst>
      <p:ext uri="{BB962C8B-B14F-4D97-AF65-F5344CB8AC3E}">
        <p14:creationId xmlns:p14="http://schemas.microsoft.com/office/powerpoint/2010/main" val="3581836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7893789" cy="701407"/>
          </a:xfrm>
        </p:spPr>
        <p:txBody>
          <a:bodyPr/>
          <a:lstStyle/>
          <a:p>
            <a:r>
              <a:rPr lang="ja-JP" altLang="en-US" dirty="0" smtClean="0"/>
              <a:t>漢字（かんじ）</a:t>
            </a:r>
            <a:endParaRPr lang="en-IN" dirty="0"/>
          </a:p>
        </p:txBody>
      </p:sp>
      <p:sp>
        <p:nvSpPr>
          <p:cNvPr id="3" name="Content Placeholder 2"/>
          <p:cNvSpPr>
            <a:spLocks noGrp="1"/>
          </p:cNvSpPr>
          <p:nvPr>
            <p:ph idx="1"/>
          </p:nvPr>
        </p:nvSpPr>
        <p:spPr>
          <a:xfrm>
            <a:off x="677334" y="1454227"/>
            <a:ext cx="8596668" cy="4587135"/>
          </a:xfrm>
        </p:spPr>
        <p:txBody>
          <a:bodyPr>
            <a:normAutofit/>
          </a:bodyPr>
          <a:lstStyle/>
          <a:p>
            <a:r>
              <a:rPr lang="ja-JP" altLang="en-US" dirty="0" smtClean="0"/>
              <a:t>一　いち</a:t>
            </a:r>
            <a:endParaRPr lang="en-US" altLang="ja-JP" dirty="0" smtClean="0"/>
          </a:p>
          <a:p>
            <a:r>
              <a:rPr lang="ja-JP" altLang="en-US" dirty="0" smtClean="0"/>
              <a:t>ニ　</a:t>
            </a:r>
            <a:r>
              <a:rPr lang="ja-JP" altLang="en-US" dirty="0"/>
              <a:t>に</a:t>
            </a:r>
            <a:endParaRPr lang="en-US" altLang="ja-JP" dirty="0"/>
          </a:p>
          <a:p>
            <a:r>
              <a:rPr lang="ja-JP" altLang="en-US" dirty="0" smtClean="0"/>
              <a:t>三　さん</a:t>
            </a:r>
            <a:endParaRPr lang="en-US" altLang="ja-JP" dirty="0" smtClean="0"/>
          </a:p>
          <a:p>
            <a:r>
              <a:rPr lang="ja-JP" altLang="en-US" dirty="0" smtClean="0"/>
              <a:t>四　よん・し</a:t>
            </a:r>
            <a:endParaRPr lang="en-US" altLang="ja-JP" dirty="0" smtClean="0"/>
          </a:p>
          <a:p>
            <a:r>
              <a:rPr lang="ja-JP" altLang="en-US" dirty="0" smtClean="0"/>
              <a:t>五　</a:t>
            </a:r>
            <a:r>
              <a:rPr lang="ja-JP" altLang="en-US" dirty="0"/>
              <a:t>ご</a:t>
            </a:r>
            <a:endParaRPr lang="en-US" altLang="ja-JP" dirty="0"/>
          </a:p>
          <a:p>
            <a:r>
              <a:rPr lang="ja-JP" altLang="en-US" dirty="0" smtClean="0"/>
              <a:t>六　ろく</a:t>
            </a:r>
            <a:endParaRPr lang="en-US" altLang="ja-JP" dirty="0" smtClean="0"/>
          </a:p>
          <a:p>
            <a:r>
              <a:rPr lang="ja-JP" altLang="en-US" dirty="0" smtClean="0"/>
              <a:t>七　しち・なな</a:t>
            </a:r>
            <a:endParaRPr lang="en-US" altLang="ja-JP" dirty="0" smtClean="0"/>
          </a:p>
          <a:p>
            <a:r>
              <a:rPr lang="ja-JP" altLang="en-US" dirty="0" smtClean="0"/>
              <a:t>八　はち</a:t>
            </a:r>
            <a:endParaRPr lang="en-US" altLang="ja-JP" dirty="0"/>
          </a:p>
          <a:p>
            <a:r>
              <a:rPr lang="ja-JP" altLang="en-US" dirty="0" smtClean="0"/>
              <a:t>九　きゅう</a:t>
            </a:r>
            <a:endParaRPr lang="en-US" altLang="ja-JP" dirty="0" smtClean="0"/>
          </a:p>
          <a:p>
            <a:r>
              <a:rPr lang="ja-JP" altLang="en-US" dirty="0" smtClean="0"/>
              <a:t>十　</a:t>
            </a:r>
            <a:r>
              <a:rPr lang="ja-JP" altLang="en-US" dirty="0" smtClean="0"/>
              <a:t>じ</a:t>
            </a:r>
            <a:r>
              <a:rPr lang="ja-JP" altLang="en-US" dirty="0"/>
              <a:t>ゅ</a:t>
            </a:r>
            <a:r>
              <a:rPr lang="ja-JP" altLang="en-US" dirty="0" smtClean="0"/>
              <a:t>う</a:t>
            </a:r>
            <a:endParaRPr lang="en-US" altLang="ja-JP" dirty="0" smtClean="0"/>
          </a:p>
          <a:p>
            <a:endParaRPr lang="en-US" altLang="ja-JP" dirty="0"/>
          </a:p>
          <a:p>
            <a:endParaRPr lang="en-IN" dirty="0"/>
          </a:p>
        </p:txBody>
      </p:sp>
    </p:spTree>
    <p:extLst>
      <p:ext uri="{BB962C8B-B14F-4D97-AF65-F5344CB8AC3E}">
        <p14:creationId xmlns:p14="http://schemas.microsoft.com/office/powerpoint/2010/main" val="845782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24877"/>
          </a:xfrm>
        </p:spPr>
        <p:txBody>
          <a:bodyPr/>
          <a:lstStyle/>
          <a:p>
            <a:pPr algn="ctr"/>
            <a:r>
              <a:rPr lang="en-IN" sz="4800" dirty="0" smtClean="0"/>
              <a:t>Hiragana- Chart 1</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pic>
        <p:nvPicPr>
          <p:cNvPr id="6" name="Picture 5" descr="Basic Hiragana Chart • Marimosou"/>
          <p:cNvPicPr/>
          <p:nvPr/>
        </p:nvPicPr>
        <p:blipFill>
          <a:blip r:embed="rId2">
            <a:extLst>
              <a:ext uri="{28A0092B-C50C-407E-A947-70E740481C1C}">
                <a14:useLocalDpi xmlns:a14="http://schemas.microsoft.com/office/drawing/2010/main" val="0"/>
              </a:ext>
            </a:extLst>
          </a:blip>
          <a:srcRect/>
          <a:stretch>
            <a:fillRect/>
          </a:stretch>
        </p:blipFill>
        <p:spPr bwMode="auto">
          <a:xfrm>
            <a:off x="1388126" y="1226406"/>
            <a:ext cx="7733840" cy="4998123"/>
          </a:xfrm>
          <a:prstGeom prst="rect">
            <a:avLst/>
          </a:prstGeom>
          <a:noFill/>
          <a:ln>
            <a:noFill/>
          </a:ln>
        </p:spPr>
      </p:pic>
    </p:spTree>
    <p:extLst>
      <p:ext uri="{BB962C8B-B14F-4D97-AF65-F5344CB8AC3E}">
        <p14:creationId xmlns:p14="http://schemas.microsoft.com/office/powerpoint/2010/main" val="275029670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954681"/>
          </a:xfrm>
        </p:spPr>
        <p:txBody>
          <a:bodyPr/>
          <a:lstStyle/>
          <a:p>
            <a:pPr algn="ctr"/>
            <a:r>
              <a:rPr lang="en-IN" sz="4000" dirty="0" smtClean="0"/>
              <a:t>Hiragana- Chart 2</a:t>
            </a:r>
            <a:br>
              <a:rPr lang="en-IN" sz="4000" dirty="0" smtClean="0"/>
            </a:br>
            <a:r>
              <a:rPr lang="en-IN" sz="4000" dirty="0" smtClean="0"/>
              <a:t>(</a:t>
            </a:r>
            <a:r>
              <a:rPr lang="en-IN" sz="4000" dirty="0" err="1" smtClean="0"/>
              <a:t>Dakuten</a:t>
            </a:r>
            <a:r>
              <a:rPr lang="en-IN" sz="4000" dirty="0" smtClean="0"/>
              <a:t> Chart)</a:t>
            </a:r>
            <a:endParaRPr lang="en-IN" sz="40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pic>
        <p:nvPicPr>
          <p:cNvPr id="5" name="Picture 4" descr="Kana 1-3 Hiragana Part 2 – JapaneseUp"/>
          <p:cNvPicPr/>
          <p:nvPr/>
        </p:nvPicPr>
        <p:blipFill>
          <a:blip r:embed="rId2">
            <a:extLst>
              <a:ext uri="{28A0092B-C50C-407E-A947-70E740481C1C}">
                <a14:useLocalDpi xmlns:a14="http://schemas.microsoft.com/office/drawing/2010/main" val="0"/>
              </a:ext>
            </a:extLst>
          </a:blip>
          <a:srcRect/>
          <a:stretch>
            <a:fillRect/>
          </a:stretch>
        </p:blipFill>
        <p:spPr bwMode="auto">
          <a:xfrm>
            <a:off x="2313543" y="2024062"/>
            <a:ext cx="5673170" cy="3627591"/>
          </a:xfrm>
          <a:prstGeom prst="rect">
            <a:avLst/>
          </a:prstGeom>
          <a:noFill/>
          <a:ln>
            <a:noFill/>
          </a:ln>
        </p:spPr>
      </p:pic>
    </p:spTree>
    <p:extLst>
      <p:ext uri="{BB962C8B-B14F-4D97-AF65-F5344CB8AC3E}">
        <p14:creationId xmlns:p14="http://schemas.microsoft.com/office/powerpoint/2010/main" val="36178095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2"/>
            <a:ext cx="8718759" cy="658776"/>
          </a:xfrm>
        </p:spPr>
        <p:txBody>
          <a:bodyPr/>
          <a:lstStyle/>
          <a:p>
            <a:pPr algn="ctr"/>
            <a:r>
              <a:rPr lang="en-IN" sz="4800" dirty="0" smtClean="0"/>
              <a:t>Hiragana- Chart 3</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algn="l"/>
            <a:r>
              <a:rPr lang="en-US" dirty="0" smtClean="0">
                <a:solidFill>
                  <a:schemeClr val="tx1"/>
                </a:solidFill>
              </a:rPr>
              <a:t>Combo Hiragana</a:t>
            </a: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pic>
        <p:nvPicPr>
          <p:cNvPr id="5" name="Picture 4" descr="Kana 1-3 Hiragana Part 2 – JapaneseUp"/>
          <p:cNvPicPr/>
          <p:nvPr/>
        </p:nvPicPr>
        <p:blipFill>
          <a:blip r:embed="rId2">
            <a:extLst>
              <a:ext uri="{28A0092B-C50C-407E-A947-70E740481C1C}">
                <a14:useLocalDpi xmlns:a14="http://schemas.microsoft.com/office/drawing/2010/main" val="0"/>
              </a:ext>
            </a:extLst>
          </a:blip>
          <a:srcRect/>
          <a:stretch>
            <a:fillRect/>
          </a:stretch>
        </p:blipFill>
        <p:spPr bwMode="auto">
          <a:xfrm>
            <a:off x="3437263" y="1355075"/>
            <a:ext cx="4549449" cy="4814371"/>
          </a:xfrm>
          <a:prstGeom prst="rect">
            <a:avLst/>
          </a:prstGeom>
          <a:noFill/>
          <a:ln>
            <a:noFill/>
          </a:ln>
        </p:spPr>
      </p:pic>
    </p:spTree>
    <p:extLst>
      <p:ext uri="{BB962C8B-B14F-4D97-AF65-F5344CB8AC3E}">
        <p14:creationId xmlns:p14="http://schemas.microsoft.com/office/powerpoint/2010/main" val="40080788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24877"/>
          </a:xfrm>
        </p:spPr>
        <p:txBody>
          <a:bodyPr/>
          <a:lstStyle/>
          <a:p>
            <a:pPr algn="ctr"/>
            <a:r>
              <a:rPr lang="en-IN" sz="4800" dirty="0" smtClean="0"/>
              <a:t>20 Nouns of Hiragana</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
        <p:nvSpPr>
          <p:cNvPr id="5" name="Rectangle 4"/>
          <p:cNvSpPr/>
          <p:nvPr/>
        </p:nvSpPr>
        <p:spPr>
          <a:xfrm>
            <a:off x="2082188" y="1859340"/>
            <a:ext cx="7061812" cy="3970318"/>
          </a:xfrm>
          <a:prstGeom prst="rect">
            <a:avLst/>
          </a:prstGeom>
        </p:spPr>
        <p:txBody>
          <a:bodyPr wrap="square">
            <a:spAutoFit/>
          </a:bodyPr>
          <a:lstStyle/>
          <a:p>
            <a:r>
              <a:rPr lang="ja-JP" altLang="en-US" dirty="0"/>
              <a:t>あいさつ</a:t>
            </a:r>
            <a:r>
              <a:rPr lang="ja-JP" altLang="en-US" dirty="0" smtClean="0"/>
              <a:t>：</a:t>
            </a:r>
            <a:endParaRPr lang="en-IN" altLang="ja-JP" dirty="0" smtClean="0"/>
          </a:p>
          <a:p>
            <a:endParaRPr lang="ja-JP" altLang="en-US" dirty="0"/>
          </a:p>
          <a:p>
            <a:pPr marL="342900" indent="-342900">
              <a:buAutoNum type="arabicDbPeriod"/>
            </a:pPr>
            <a:r>
              <a:rPr lang="en-US" altLang="ja-JP" dirty="0" smtClean="0"/>
              <a:t>O</a:t>
            </a:r>
            <a:r>
              <a:rPr lang="ja-JP" altLang="en-US" dirty="0"/>
              <a:t>　</a:t>
            </a:r>
            <a:r>
              <a:rPr lang="en-US" altLang="ja-JP" dirty="0"/>
              <a:t>ha</a:t>
            </a:r>
            <a:r>
              <a:rPr lang="ja-JP" altLang="en-US" dirty="0"/>
              <a:t>　</a:t>
            </a:r>
            <a:r>
              <a:rPr lang="en-US" altLang="ja-JP" dirty="0" err="1"/>
              <a:t>yo</a:t>
            </a:r>
            <a:r>
              <a:rPr lang="ja-JP" altLang="en-US" dirty="0"/>
              <a:t>　</a:t>
            </a:r>
            <a:r>
              <a:rPr lang="en-US" altLang="ja-JP" dirty="0"/>
              <a:t>o go</a:t>
            </a:r>
            <a:r>
              <a:rPr lang="ja-JP" altLang="en-US" dirty="0"/>
              <a:t>　</a:t>
            </a:r>
            <a:r>
              <a:rPr lang="en-US" altLang="ja-JP" dirty="0" err="1"/>
              <a:t>za</a:t>
            </a:r>
            <a:r>
              <a:rPr lang="ja-JP" altLang="en-US" dirty="0"/>
              <a:t>　</a:t>
            </a:r>
            <a:r>
              <a:rPr lang="en-US" altLang="ja-JP" dirty="0" err="1"/>
              <a:t>i</a:t>
            </a:r>
            <a:r>
              <a:rPr lang="ja-JP" altLang="en-US" dirty="0"/>
              <a:t>　</a:t>
            </a:r>
            <a:r>
              <a:rPr lang="en-US" altLang="ja-JP" dirty="0"/>
              <a:t>ma</a:t>
            </a:r>
            <a:r>
              <a:rPr lang="ja-JP" altLang="en-US" dirty="0"/>
              <a:t>　</a:t>
            </a:r>
            <a:r>
              <a:rPr lang="en-US" altLang="ja-JP" dirty="0" err="1"/>
              <a:t>su</a:t>
            </a:r>
            <a:r>
              <a:rPr lang="en-US" altLang="ja-JP" dirty="0"/>
              <a:t> </a:t>
            </a:r>
            <a:r>
              <a:rPr lang="en-US" altLang="ja-JP" dirty="0" smtClean="0"/>
              <a:t>―</a:t>
            </a:r>
          </a:p>
          <a:p>
            <a:r>
              <a:rPr lang="en-US" altLang="ja-JP" dirty="0"/>
              <a:t> </a:t>
            </a:r>
            <a:r>
              <a:rPr lang="en-US" altLang="ja-JP" dirty="0" smtClean="0"/>
              <a:t>      </a:t>
            </a:r>
            <a:r>
              <a:rPr lang="ja-JP" altLang="en-US" dirty="0" smtClean="0"/>
              <a:t>お</a:t>
            </a:r>
            <a:r>
              <a:rPr lang="ja-JP" altLang="en-US" dirty="0"/>
              <a:t>はよう　ございます</a:t>
            </a:r>
          </a:p>
          <a:p>
            <a:r>
              <a:rPr lang="ja-JP" altLang="en-US" dirty="0"/>
              <a:t>２．	</a:t>
            </a:r>
            <a:r>
              <a:rPr lang="en-US" altLang="ja-JP" dirty="0" err="1"/>
              <a:t>Ko</a:t>
            </a:r>
            <a:r>
              <a:rPr lang="ja-JP" altLang="en-US" dirty="0"/>
              <a:t>　</a:t>
            </a:r>
            <a:r>
              <a:rPr lang="en-US" altLang="ja-JP" dirty="0"/>
              <a:t>n</a:t>
            </a:r>
            <a:r>
              <a:rPr lang="ja-JP" altLang="en-US" dirty="0"/>
              <a:t>　</a:t>
            </a:r>
            <a:r>
              <a:rPr lang="en-US" altLang="ja-JP" dirty="0" err="1"/>
              <a:t>ni</a:t>
            </a:r>
            <a:r>
              <a:rPr lang="ja-JP" altLang="en-US" dirty="0"/>
              <a:t>　</a:t>
            </a:r>
            <a:r>
              <a:rPr lang="en-US" altLang="ja-JP" dirty="0"/>
              <a:t>chi</a:t>
            </a:r>
            <a:r>
              <a:rPr lang="ja-JP" altLang="en-US" dirty="0"/>
              <a:t>　</a:t>
            </a:r>
            <a:r>
              <a:rPr lang="en-US" altLang="ja-JP" dirty="0" err="1"/>
              <a:t>wa</a:t>
            </a:r>
            <a:r>
              <a:rPr lang="ja-JP" altLang="en-US" dirty="0"/>
              <a:t>　－こんにちは</a:t>
            </a:r>
          </a:p>
          <a:p>
            <a:r>
              <a:rPr lang="ja-JP" altLang="en-US" dirty="0"/>
              <a:t>３．	</a:t>
            </a:r>
            <a:r>
              <a:rPr lang="en-US" altLang="ja-JP" dirty="0" err="1"/>
              <a:t>Ko</a:t>
            </a:r>
            <a:r>
              <a:rPr lang="ja-JP" altLang="en-US" dirty="0"/>
              <a:t>　</a:t>
            </a:r>
            <a:r>
              <a:rPr lang="en-US" altLang="ja-JP" dirty="0"/>
              <a:t>n</a:t>
            </a:r>
            <a:r>
              <a:rPr lang="ja-JP" altLang="en-US" dirty="0"/>
              <a:t>　</a:t>
            </a:r>
            <a:r>
              <a:rPr lang="en-US" altLang="ja-JP" dirty="0" err="1"/>
              <a:t>ba</a:t>
            </a:r>
            <a:r>
              <a:rPr lang="ja-JP" altLang="en-US" dirty="0"/>
              <a:t>　</a:t>
            </a:r>
            <a:r>
              <a:rPr lang="en-US" altLang="ja-JP" dirty="0"/>
              <a:t>n</a:t>
            </a:r>
            <a:r>
              <a:rPr lang="ja-JP" altLang="en-US" dirty="0"/>
              <a:t>　</a:t>
            </a:r>
            <a:r>
              <a:rPr lang="en-US" altLang="ja-JP" dirty="0" err="1"/>
              <a:t>wa</a:t>
            </a:r>
            <a:r>
              <a:rPr lang="ja-JP" altLang="en-US" dirty="0"/>
              <a:t>　－こんばんは</a:t>
            </a:r>
          </a:p>
          <a:p>
            <a:r>
              <a:rPr lang="ja-JP" altLang="en-US" dirty="0"/>
              <a:t>４．	</a:t>
            </a:r>
            <a:r>
              <a:rPr lang="en-US" altLang="ja-JP" dirty="0"/>
              <a:t>A</a:t>
            </a:r>
            <a:r>
              <a:rPr lang="ja-JP" altLang="en-US" dirty="0"/>
              <a:t>　</a:t>
            </a:r>
            <a:r>
              <a:rPr lang="en-US" altLang="ja-JP" dirty="0" err="1"/>
              <a:t>ri</a:t>
            </a:r>
            <a:r>
              <a:rPr lang="ja-JP" altLang="en-US" dirty="0"/>
              <a:t>　</a:t>
            </a:r>
            <a:r>
              <a:rPr lang="en-US" altLang="ja-JP" dirty="0" err="1"/>
              <a:t>ga</a:t>
            </a:r>
            <a:r>
              <a:rPr lang="ja-JP" altLang="en-US" dirty="0"/>
              <a:t>　</a:t>
            </a:r>
            <a:r>
              <a:rPr lang="en-US" altLang="ja-JP" dirty="0"/>
              <a:t>to</a:t>
            </a:r>
            <a:r>
              <a:rPr lang="ja-JP" altLang="en-US" dirty="0"/>
              <a:t>　</a:t>
            </a:r>
            <a:r>
              <a:rPr lang="en-US" altLang="ja-JP" dirty="0"/>
              <a:t>u</a:t>
            </a:r>
            <a:r>
              <a:rPr lang="ja-JP" altLang="en-US" dirty="0"/>
              <a:t>　</a:t>
            </a:r>
            <a:r>
              <a:rPr lang="en-US" altLang="ja-JP" dirty="0"/>
              <a:t>―</a:t>
            </a:r>
            <a:r>
              <a:rPr lang="ja-JP" altLang="en-US" dirty="0"/>
              <a:t>　ありがとう</a:t>
            </a:r>
          </a:p>
          <a:p>
            <a:r>
              <a:rPr lang="ja-JP" altLang="en-US" dirty="0"/>
              <a:t>５．	</a:t>
            </a:r>
            <a:r>
              <a:rPr lang="en-US" altLang="ja-JP" dirty="0"/>
              <a:t>Su</a:t>
            </a:r>
            <a:r>
              <a:rPr lang="ja-JP" altLang="en-US" dirty="0"/>
              <a:t>　</a:t>
            </a:r>
            <a:r>
              <a:rPr lang="en-US" altLang="ja-JP" dirty="0"/>
              <a:t>mi</a:t>
            </a:r>
            <a:r>
              <a:rPr lang="ja-JP" altLang="en-US" dirty="0"/>
              <a:t>　</a:t>
            </a:r>
            <a:r>
              <a:rPr lang="en-US" altLang="ja-JP" dirty="0"/>
              <a:t>ma</a:t>
            </a:r>
            <a:r>
              <a:rPr lang="ja-JP" altLang="en-US" dirty="0"/>
              <a:t>　</a:t>
            </a:r>
            <a:r>
              <a:rPr lang="en-US" altLang="ja-JP" dirty="0"/>
              <a:t>se</a:t>
            </a:r>
            <a:r>
              <a:rPr lang="ja-JP" altLang="en-US" dirty="0"/>
              <a:t>　</a:t>
            </a:r>
            <a:r>
              <a:rPr lang="en-US" altLang="ja-JP" dirty="0"/>
              <a:t>n</a:t>
            </a:r>
            <a:r>
              <a:rPr lang="ja-JP" altLang="en-US" dirty="0"/>
              <a:t>　</a:t>
            </a:r>
            <a:r>
              <a:rPr lang="en-US" altLang="ja-JP" dirty="0"/>
              <a:t>―</a:t>
            </a:r>
            <a:r>
              <a:rPr lang="ja-JP" altLang="en-US" dirty="0"/>
              <a:t>すみません</a:t>
            </a:r>
          </a:p>
          <a:p>
            <a:r>
              <a:rPr lang="ja-JP" altLang="en-US" dirty="0"/>
              <a:t>６．	</a:t>
            </a:r>
            <a:r>
              <a:rPr lang="en-US" altLang="ja-JP" dirty="0"/>
              <a:t>Sa</a:t>
            </a:r>
            <a:r>
              <a:rPr lang="ja-JP" altLang="en-US" dirty="0"/>
              <a:t>　</a:t>
            </a:r>
            <a:r>
              <a:rPr lang="en-US" altLang="ja-JP" dirty="0" err="1"/>
              <a:t>yo</a:t>
            </a:r>
            <a:r>
              <a:rPr lang="ja-JP" altLang="en-US" dirty="0"/>
              <a:t>　</a:t>
            </a:r>
            <a:r>
              <a:rPr lang="en-US" altLang="ja-JP" dirty="0"/>
              <a:t>u</a:t>
            </a:r>
            <a:r>
              <a:rPr lang="ja-JP" altLang="en-US" dirty="0"/>
              <a:t>　</a:t>
            </a:r>
            <a:r>
              <a:rPr lang="en-US" altLang="ja-JP" dirty="0" err="1"/>
              <a:t>na</a:t>
            </a:r>
            <a:r>
              <a:rPr lang="ja-JP" altLang="en-US" dirty="0"/>
              <a:t>　</a:t>
            </a:r>
            <a:r>
              <a:rPr lang="en-US" altLang="ja-JP" dirty="0" err="1"/>
              <a:t>ra</a:t>
            </a:r>
            <a:r>
              <a:rPr lang="ja-JP" altLang="en-US" dirty="0"/>
              <a:t>　</a:t>
            </a:r>
            <a:r>
              <a:rPr lang="en-US" altLang="ja-JP" dirty="0"/>
              <a:t>―</a:t>
            </a:r>
            <a:r>
              <a:rPr lang="ja-JP" altLang="en-US" dirty="0"/>
              <a:t>さようなら</a:t>
            </a:r>
          </a:p>
          <a:p>
            <a:r>
              <a:rPr lang="ja-JP" altLang="en-US" dirty="0"/>
              <a:t>７．	</a:t>
            </a:r>
            <a:r>
              <a:rPr lang="en-US" altLang="ja-JP" dirty="0"/>
              <a:t>Ha</a:t>
            </a:r>
            <a:r>
              <a:rPr lang="ja-JP" altLang="en-US" dirty="0"/>
              <a:t>　</a:t>
            </a:r>
            <a:r>
              <a:rPr lang="en-US" altLang="ja-JP" dirty="0" err="1"/>
              <a:t>i</a:t>
            </a:r>
            <a:r>
              <a:rPr lang="ja-JP" altLang="en-US" dirty="0"/>
              <a:t>　</a:t>
            </a:r>
            <a:r>
              <a:rPr lang="en-US" altLang="ja-JP" dirty="0"/>
              <a:t>―</a:t>
            </a:r>
            <a:r>
              <a:rPr lang="ja-JP" altLang="en-US" dirty="0"/>
              <a:t>はい</a:t>
            </a:r>
          </a:p>
          <a:p>
            <a:pPr marL="342900" indent="-342900">
              <a:buAutoNum type="arabicDbPeriod" startAt="8"/>
            </a:pPr>
            <a:r>
              <a:rPr lang="en-US" altLang="ja-JP" dirty="0" smtClean="0"/>
              <a:t>I</a:t>
            </a:r>
            <a:r>
              <a:rPr lang="ja-JP" altLang="en-US" dirty="0"/>
              <a:t>　</a:t>
            </a:r>
            <a:r>
              <a:rPr lang="en-US" altLang="ja-JP" dirty="0"/>
              <a:t>I</a:t>
            </a:r>
            <a:r>
              <a:rPr lang="ja-JP" altLang="en-US" dirty="0"/>
              <a:t>　</a:t>
            </a:r>
            <a:r>
              <a:rPr lang="en-US" altLang="ja-JP" dirty="0"/>
              <a:t>e</a:t>
            </a:r>
            <a:r>
              <a:rPr lang="ja-JP" altLang="en-US" dirty="0"/>
              <a:t>　</a:t>
            </a:r>
            <a:r>
              <a:rPr lang="en-US" altLang="ja-JP" dirty="0"/>
              <a:t>―</a:t>
            </a:r>
            <a:r>
              <a:rPr lang="ja-JP" altLang="en-US" dirty="0"/>
              <a:t>いい</a:t>
            </a:r>
            <a:r>
              <a:rPr lang="ja-JP" altLang="en-US" dirty="0" smtClean="0"/>
              <a:t>え</a:t>
            </a:r>
            <a:endParaRPr lang="en-IN" altLang="ja-JP" dirty="0" smtClean="0"/>
          </a:p>
          <a:p>
            <a:pPr marL="342900" indent="-342900">
              <a:buAutoNum type="arabicDbPeriod" startAt="8"/>
            </a:pPr>
            <a:r>
              <a:rPr lang="en-IN" altLang="ja-JP" dirty="0" smtClean="0"/>
              <a:t>O </a:t>
            </a:r>
            <a:r>
              <a:rPr lang="en-IN" altLang="ja-JP" dirty="0" err="1" smtClean="0"/>
              <a:t>ya</a:t>
            </a:r>
            <a:r>
              <a:rPr lang="en-IN" altLang="ja-JP" dirty="0" smtClean="0"/>
              <a:t> </a:t>
            </a:r>
            <a:r>
              <a:rPr lang="en-IN" altLang="ja-JP" dirty="0" err="1" smtClean="0"/>
              <a:t>su</a:t>
            </a:r>
            <a:r>
              <a:rPr lang="en-IN" altLang="ja-JP" dirty="0" smtClean="0"/>
              <a:t> mi </a:t>
            </a:r>
            <a:r>
              <a:rPr lang="en-IN" altLang="ja-JP" dirty="0" err="1" smtClean="0"/>
              <a:t>na</a:t>
            </a:r>
            <a:r>
              <a:rPr lang="en-IN" altLang="ja-JP" dirty="0" smtClean="0"/>
              <a:t> </a:t>
            </a:r>
            <a:r>
              <a:rPr lang="en-IN" altLang="ja-JP" dirty="0" err="1" smtClean="0"/>
              <a:t>sa</a:t>
            </a:r>
            <a:r>
              <a:rPr lang="en-IN" altLang="ja-JP" dirty="0" smtClean="0"/>
              <a:t> </a:t>
            </a:r>
            <a:r>
              <a:rPr lang="en-IN" altLang="ja-JP" dirty="0" err="1" smtClean="0"/>
              <a:t>i</a:t>
            </a:r>
            <a:r>
              <a:rPr lang="en-IN" altLang="ja-JP" dirty="0" smtClean="0"/>
              <a:t>-</a:t>
            </a:r>
            <a:r>
              <a:rPr lang="ja-JP" altLang="en-US" dirty="0" smtClean="0"/>
              <a:t>　おやすみ　なさい</a:t>
            </a:r>
            <a:endParaRPr lang="en-IN" altLang="ja-JP" dirty="0" smtClean="0"/>
          </a:p>
          <a:p>
            <a:pPr marL="342900" indent="-342900">
              <a:buAutoNum type="arabicDbPeriod" startAt="8"/>
            </a:pPr>
            <a:endParaRPr lang="ja-JP" altLang="en-US" dirty="0"/>
          </a:p>
          <a:p>
            <a:endParaRPr lang="ja-JP" altLang="en-US" dirty="0"/>
          </a:p>
        </p:txBody>
      </p:sp>
    </p:spTree>
    <p:extLst>
      <p:ext uri="{BB962C8B-B14F-4D97-AF65-F5344CB8AC3E}">
        <p14:creationId xmlns:p14="http://schemas.microsoft.com/office/powerpoint/2010/main" val="16418778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1008367"/>
          </a:xfrm>
        </p:spPr>
        <p:txBody>
          <a:bodyPr/>
          <a:lstStyle/>
          <a:p>
            <a:pPr algn="ctr"/>
            <a:r>
              <a:rPr lang="en-IN" sz="4800" dirty="0"/>
              <a:t>20 Nouns of Hiragana</a:t>
            </a:r>
          </a:p>
        </p:txBody>
      </p:sp>
      <p:sp>
        <p:nvSpPr>
          <p:cNvPr id="3" name="Subtitle 2"/>
          <p:cNvSpPr>
            <a:spLocks noGrp="1"/>
          </p:cNvSpPr>
          <p:nvPr>
            <p:ph type="subTitle" idx="1"/>
          </p:nvPr>
        </p:nvSpPr>
        <p:spPr>
          <a:xfrm>
            <a:off x="1262130" y="1468192"/>
            <a:ext cx="8011873" cy="4430331"/>
          </a:xfrm>
        </p:spPr>
        <p:txBody>
          <a:bodyPr>
            <a:normAutofit fontScale="85000" lnSpcReduction="20000"/>
          </a:bodyPr>
          <a:lstStyle/>
          <a:p>
            <a:pPr algn="l"/>
            <a:r>
              <a:rPr lang="ja-JP" altLang="en-US" sz="2300" u="sng" dirty="0">
                <a:solidFill>
                  <a:schemeClr val="tx1"/>
                </a:solidFill>
              </a:rPr>
              <a:t>めいし（</a:t>
            </a:r>
            <a:r>
              <a:rPr lang="en-US" sz="2300" u="sng" dirty="0">
                <a:solidFill>
                  <a:schemeClr val="tx1"/>
                </a:solidFill>
              </a:rPr>
              <a:t>Nouns）</a:t>
            </a:r>
          </a:p>
          <a:p>
            <a:pPr algn="l"/>
            <a:r>
              <a:rPr lang="en-US" sz="2300" dirty="0">
                <a:solidFill>
                  <a:schemeClr val="tx1"/>
                </a:solidFill>
              </a:rPr>
              <a:t>1</a:t>
            </a:r>
            <a:r>
              <a:rPr lang="en-US" sz="2300" dirty="0" smtClean="0">
                <a:solidFill>
                  <a:schemeClr val="tx1"/>
                </a:solidFill>
              </a:rPr>
              <a:t>0．A  </a:t>
            </a:r>
            <a:r>
              <a:rPr lang="en-US" sz="2300" dirty="0" err="1">
                <a:solidFill>
                  <a:schemeClr val="tx1"/>
                </a:solidFill>
              </a:rPr>
              <a:t>sa</a:t>
            </a:r>
            <a:r>
              <a:rPr lang="en-US" sz="2300" dirty="0">
                <a:solidFill>
                  <a:schemeClr val="tx1"/>
                </a:solidFill>
              </a:rPr>
              <a:t>  - </a:t>
            </a:r>
            <a:r>
              <a:rPr lang="ja-JP" altLang="en-US" sz="2300" dirty="0">
                <a:solidFill>
                  <a:schemeClr val="tx1"/>
                </a:solidFill>
              </a:rPr>
              <a:t>あさ　</a:t>
            </a:r>
            <a:r>
              <a:rPr lang="en-US" altLang="ja-JP" sz="2300" dirty="0">
                <a:solidFill>
                  <a:schemeClr val="tx1"/>
                </a:solidFill>
              </a:rPr>
              <a:t>-</a:t>
            </a:r>
            <a:r>
              <a:rPr lang="en-US" sz="2300" dirty="0">
                <a:solidFill>
                  <a:schemeClr val="tx1"/>
                </a:solidFill>
              </a:rPr>
              <a:t>Morning</a:t>
            </a:r>
          </a:p>
          <a:p>
            <a:pPr algn="l"/>
            <a:r>
              <a:rPr lang="en-US" sz="2300" dirty="0" smtClean="0">
                <a:solidFill>
                  <a:schemeClr val="tx1"/>
                </a:solidFill>
              </a:rPr>
              <a:t>11．I   </a:t>
            </a:r>
            <a:r>
              <a:rPr lang="en-US" sz="2300" dirty="0">
                <a:solidFill>
                  <a:schemeClr val="tx1"/>
                </a:solidFill>
              </a:rPr>
              <a:t>e -</a:t>
            </a:r>
            <a:r>
              <a:rPr lang="ja-JP" altLang="en-US" sz="2300" dirty="0">
                <a:solidFill>
                  <a:schemeClr val="tx1"/>
                </a:solidFill>
              </a:rPr>
              <a:t>いえ  </a:t>
            </a:r>
            <a:r>
              <a:rPr lang="en-US" altLang="ja-JP" sz="2300" dirty="0">
                <a:solidFill>
                  <a:schemeClr val="tx1"/>
                </a:solidFill>
              </a:rPr>
              <a:t>- </a:t>
            </a:r>
            <a:r>
              <a:rPr lang="en-US" sz="2300" dirty="0">
                <a:solidFill>
                  <a:schemeClr val="tx1"/>
                </a:solidFill>
              </a:rPr>
              <a:t>House</a:t>
            </a:r>
          </a:p>
          <a:p>
            <a:pPr algn="l"/>
            <a:r>
              <a:rPr lang="en-US" sz="2300" dirty="0" smtClean="0">
                <a:solidFill>
                  <a:schemeClr val="tx1"/>
                </a:solidFill>
              </a:rPr>
              <a:t>12．Ya  </a:t>
            </a:r>
            <a:r>
              <a:rPr lang="en-US" sz="2300" dirty="0">
                <a:solidFill>
                  <a:schemeClr val="tx1"/>
                </a:solidFill>
              </a:rPr>
              <a:t>ma-</a:t>
            </a:r>
            <a:r>
              <a:rPr lang="ja-JP" altLang="en-US" sz="2300" dirty="0">
                <a:solidFill>
                  <a:schemeClr val="tx1"/>
                </a:solidFill>
              </a:rPr>
              <a:t>やま </a:t>
            </a:r>
            <a:r>
              <a:rPr lang="en-US" altLang="ja-JP" sz="2300" dirty="0">
                <a:solidFill>
                  <a:schemeClr val="tx1"/>
                </a:solidFill>
              </a:rPr>
              <a:t>- </a:t>
            </a:r>
            <a:r>
              <a:rPr lang="en-US" sz="2300" dirty="0">
                <a:solidFill>
                  <a:schemeClr val="tx1"/>
                </a:solidFill>
              </a:rPr>
              <a:t>Mountain</a:t>
            </a:r>
          </a:p>
          <a:p>
            <a:pPr algn="l"/>
            <a:r>
              <a:rPr lang="en-US" sz="2300" dirty="0" smtClean="0">
                <a:solidFill>
                  <a:schemeClr val="tx1"/>
                </a:solidFill>
              </a:rPr>
              <a:t>13．So  </a:t>
            </a:r>
            <a:r>
              <a:rPr lang="en-US" sz="2300" dirty="0" err="1">
                <a:solidFill>
                  <a:schemeClr val="tx1"/>
                </a:solidFill>
              </a:rPr>
              <a:t>ra</a:t>
            </a:r>
            <a:r>
              <a:rPr lang="en-US" sz="2300" dirty="0">
                <a:solidFill>
                  <a:schemeClr val="tx1"/>
                </a:solidFill>
              </a:rPr>
              <a:t>- </a:t>
            </a:r>
            <a:r>
              <a:rPr lang="ja-JP" altLang="en-US" sz="2300" dirty="0">
                <a:solidFill>
                  <a:schemeClr val="tx1"/>
                </a:solidFill>
              </a:rPr>
              <a:t>そら </a:t>
            </a:r>
            <a:r>
              <a:rPr lang="en-US" altLang="ja-JP" sz="2300" dirty="0">
                <a:solidFill>
                  <a:schemeClr val="tx1"/>
                </a:solidFill>
              </a:rPr>
              <a:t>- </a:t>
            </a:r>
            <a:r>
              <a:rPr lang="en-US" sz="2300" dirty="0">
                <a:solidFill>
                  <a:schemeClr val="tx1"/>
                </a:solidFill>
              </a:rPr>
              <a:t>sky</a:t>
            </a:r>
          </a:p>
          <a:p>
            <a:pPr algn="l"/>
            <a:r>
              <a:rPr lang="en-US" sz="2300" dirty="0" smtClean="0">
                <a:solidFill>
                  <a:schemeClr val="tx1"/>
                </a:solidFill>
              </a:rPr>
              <a:t>14．Ne  </a:t>
            </a:r>
            <a:r>
              <a:rPr lang="en-US" sz="2300" dirty="0" err="1">
                <a:solidFill>
                  <a:schemeClr val="tx1"/>
                </a:solidFill>
              </a:rPr>
              <a:t>ko</a:t>
            </a:r>
            <a:r>
              <a:rPr lang="en-US" sz="2300" dirty="0">
                <a:solidFill>
                  <a:schemeClr val="tx1"/>
                </a:solidFill>
              </a:rPr>
              <a:t> - </a:t>
            </a:r>
            <a:r>
              <a:rPr lang="ja-JP" altLang="en-US" sz="2300" dirty="0">
                <a:solidFill>
                  <a:schemeClr val="tx1"/>
                </a:solidFill>
              </a:rPr>
              <a:t>ねこ </a:t>
            </a:r>
            <a:r>
              <a:rPr lang="en-US" altLang="ja-JP" sz="2300" dirty="0">
                <a:solidFill>
                  <a:schemeClr val="tx1"/>
                </a:solidFill>
              </a:rPr>
              <a:t>- </a:t>
            </a:r>
            <a:r>
              <a:rPr lang="en-US" sz="2300" dirty="0">
                <a:solidFill>
                  <a:schemeClr val="tx1"/>
                </a:solidFill>
              </a:rPr>
              <a:t>Cat</a:t>
            </a:r>
          </a:p>
          <a:p>
            <a:pPr algn="l"/>
            <a:r>
              <a:rPr lang="en-US" sz="2300" dirty="0" smtClean="0">
                <a:solidFill>
                  <a:schemeClr val="tx1"/>
                </a:solidFill>
              </a:rPr>
              <a:t>15．Yo  </a:t>
            </a:r>
            <a:r>
              <a:rPr lang="en-US" sz="2300" dirty="0" err="1">
                <a:solidFill>
                  <a:schemeClr val="tx1"/>
                </a:solidFill>
              </a:rPr>
              <a:t>ru</a:t>
            </a:r>
            <a:r>
              <a:rPr lang="en-US" sz="2300" dirty="0">
                <a:solidFill>
                  <a:schemeClr val="tx1"/>
                </a:solidFill>
              </a:rPr>
              <a:t> -</a:t>
            </a:r>
            <a:r>
              <a:rPr lang="ja-JP" altLang="en-US" sz="2300" dirty="0">
                <a:solidFill>
                  <a:schemeClr val="tx1"/>
                </a:solidFill>
              </a:rPr>
              <a:t>よる </a:t>
            </a:r>
            <a:r>
              <a:rPr lang="en-US" altLang="ja-JP" sz="2300" dirty="0">
                <a:solidFill>
                  <a:schemeClr val="tx1"/>
                </a:solidFill>
              </a:rPr>
              <a:t>- </a:t>
            </a:r>
            <a:r>
              <a:rPr lang="en-US" sz="2300" dirty="0">
                <a:solidFill>
                  <a:schemeClr val="tx1"/>
                </a:solidFill>
              </a:rPr>
              <a:t>Night</a:t>
            </a:r>
          </a:p>
          <a:p>
            <a:pPr algn="l"/>
            <a:r>
              <a:rPr lang="en-US" sz="2300" dirty="0" smtClean="0">
                <a:solidFill>
                  <a:schemeClr val="tx1"/>
                </a:solidFill>
              </a:rPr>
              <a:t>16.Tsu  </a:t>
            </a:r>
            <a:r>
              <a:rPr lang="en-US" sz="2300" dirty="0" err="1">
                <a:solidFill>
                  <a:schemeClr val="tx1"/>
                </a:solidFill>
              </a:rPr>
              <a:t>ku</a:t>
            </a:r>
            <a:r>
              <a:rPr lang="en-US" sz="2300" dirty="0">
                <a:solidFill>
                  <a:schemeClr val="tx1"/>
                </a:solidFill>
              </a:rPr>
              <a:t> e -</a:t>
            </a:r>
            <a:r>
              <a:rPr lang="ja-JP" altLang="en-US" sz="2300" dirty="0">
                <a:solidFill>
                  <a:schemeClr val="tx1"/>
                </a:solidFill>
              </a:rPr>
              <a:t>つくえ </a:t>
            </a:r>
            <a:r>
              <a:rPr lang="en-US" altLang="ja-JP" sz="2300" dirty="0">
                <a:solidFill>
                  <a:schemeClr val="tx1"/>
                </a:solidFill>
              </a:rPr>
              <a:t>- </a:t>
            </a:r>
            <a:r>
              <a:rPr lang="en-US" sz="2300" dirty="0">
                <a:solidFill>
                  <a:schemeClr val="tx1"/>
                </a:solidFill>
              </a:rPr>
              <a:t>Desk</a:t>
            </a:r>
          </a:p>
          <a:p>
            <a:pPr algn="l"/>
            <a:r>
              <a:rPr lang="en-US" sz="2300" dirty="0" smtClean="0">
                <a:solidFill>
                  <a:schemeClr val="tx1"/>
                </a:solidFill>
              </a:rPr>
              <a:t>17．Za  </a:t>
            </a:r>
            <a:r>
              <a:rPr lang="en-US" sz="2300" dirty="0">
                <a:solidFill>
                  <a:schemeClr val="tx1"/>
                </a:solidFill>
              </a:rPr>
              <a:t>s  </a:t>
            </a:r>
            <a:r>
              <a:rPr lang="en-US" sz="2300" dirty="0" err="1">
                <a:solidFill>
                  <a:schemeClr val="tx1"/>
                </a:solidFill>
              </a:rPr>
              <a:t>shi</a:t>
            </a:r>
            <a:r>
              <a:rPr lang="en-US" sz="2300" dirty="0">
                <a:solidFill>
                  <a:schemeClr val="tx1"/>
                </a:solidFill>
              </a:rPr>
              <a:t> -</a:t>
            </a:r>
            <a:r>
              <a:rPr lang="ja-JP" altLang="en-US" sz="2300" dirty="0">
                <a:solidFill>
                  <a:schemeClr val="tx1"/>
                </a:solidFill>
              </a:rPr>
              <a:t>ざっし</a:t>
            </a:r>
            <a:r>
              <a:rPr lang="en-US" altLang="ja-JP" sz="2300" dirty="0">
                <a:solidFill>
                  <a:schemeClr val="tx1"/>
                </a:solidFill>
              </a:rPr>
              <a:t>- </a:t>
            </a:r>
            <a:r>
              <a:rPr lang="en-US" sz="2300" dirty="0">
                <a:solidFill>
                  <a:schemeClr val="tx1"/>
                </a:solidFill>
              </a:rPr>
              <a:t>Magazine</a:t>
            </a:r>
          </a:p>
          <a:p>
            <a:pPr algn="l"/>
            <a:r>
              <a:rPr lang="en-US" sz="2300" dirty="0" smtClean="0">
                <a:solidFill>
                  <a:schemeClr val="tx1"/>
                </a:solidFill>
              </a:rPr>
              <a:t>18．Fu  </a:t>
            </a:r>
            <a:r>
              <a:rPr lang="en-US" sz="2300" dirty="0" err="1">
                <a:solidFill>
                  <a:schemeClr val="tx1"/>
                </a:solidFill>
              </a:rPr>
              <a:t>ji</a:t>
            </a:r>
            <a:r>
              <a:rPr lang="en-US" sz="2300" dirty="0">
                <a:solidFill>
                  <a:schemeClr val="tx1"/>
                </a:solidFill>
              </a:rPr>
              <a:t>  </a:t>
            </a:r>
            <a:r>
              <a:rPr lang="en-US" sz="2300" dirty="0" err="1">
                <a:solidFill>
                  <a:schemeClr val="tx1"/>
                </a:solidFill>
              </a:rPr>
              <a:t>sa</a:t>
            </a:r>
            <a:r>
              <a:rPr lang="en-US" sz="2300" dirty="0">
                <a:solidFill>
                  <a:schemeClr val="tx1"/>
                </a:solidFill>
              </a:rPr>
              <a:t>  n - </a:t>
            </a:r>
            <a:r>
              <a:rPr lang="ja-JP" altLang="en-US" sz="2300" dirty="0">
                <a:solidFill>
                  <a:schemeClr val="tx1"/>
                </a:solidFill>
              </a:rPr>
              <a:t>ふじさん </a:t>
            </a:r>
            <a:r>
              <a:rPr lang="en-US" altLang="ja-JP" sz="2300" dirty="0">
                <a:solidFill>
                  <a:schemeClr val="tx1"/>
                </a:solidFill>
              </a:rPr>
              <a:t>– </a:t>
            </a:r>
            <a:r>
              <a:rPr lang="en-US" sz="2300" dirty="0" err="1">
                <a:solidFill>
                  <a:schemeClr val="tx1"/>
                </a:solidFill>
              </a:rPr>
              <a:t>Mt.Fuji</a:t>
            </a:r>
            <a:endParaRPr lang="en-US" sz="2300" dirty="0">
              <a:solidFill>
                <a:schemeClr val="tx1"/>
              </a:solidFill>
            </a:endParaRPr>
          </a:p>
          <a:p>
            <a:pPr algn="l"/>
            <a:r>
              <a:rPr lang="en-US" sz="2300" dirty="0" smtClean="0">
                <a:solidFill>
                  <a:schemeClr val="tx1"/>
                </a:solidFill>
              </a:rPr>
              <a:t>19．To </a:t>
            </a:r>
            <a:r>
              <a:rPr lang="en-US" sz="2300" dirty="0">
                <a:solidFill>
                  <a:schemeClr val="tx1"/>
                </a:solidFill>
              </a:rPr>
              <a:t>u  </a:t>
            </a:r>
            <a:r>
              <a:rPr lang="en-US" sz="2300" dirty="0" err="1">
                <a:solidFill>
                  <a:schemeClr val="tx1"/>
                </a:solidFill>
              </a:rPr>
              <a:t>kyo</a:t>
            </a:r>
            <a:r>
              <a:rPr lang="en-US" sz="2300" dirty="0">
                <a:solidFill>
                  <a:schemeClr val="tx1"/>
                </a:solidFill>
              </a:rPr>
              <a:t> u -</a:t>
            </a:r>
            <a:r>
              <a:rPr lang="ja-JP" altLang="en-US" sz="2300" dirty="0">
                <a:solidFill>
                  <a:schemeClr val="tx1"/>
                </a:solidFill>
              </a:rPr>
              <a:t>とうきょう </a:t>
            </a:r>
            <a:r>
              <a:rPr lang="en-US" altLang="ja-JP" sz="2300" dirty="0">
                <a:solidFill>
                  <a:schemeClr val="tx1"/>
                </a:solidFill>
              </a:rPr>
              <a:t>– </a:t>
            </a:r>
            <a:r>
              <a:rPr lang="en-US" sz="2300" dirty="0">
                <a:solidFill>
                  <a:schemeClr val="tx1"/>
                </a:solidFill>
              </a:rPr>
              <a:t>Tokyo</a:t>
            </a:r>
          </a:p>
          <a:p>
            <a:pPr algn="l"/>
            <a:r>
              <a:rPr lang="en-US" sz="2300" dirty="0" smtClean="0">
                <a:solidFill>
                  <a:schemeClr val="tx1"/>
                </a:solidFill>
              </a:rPr>
              <a:t>20. </a:t>
            </a:r>
            <a:r>
              <a:rPr lang="en-US" sz="2300" dirty="0" err="1">
                <a:solidFill>
                  <a:schemeClr val="tx1"/>
                </a:solidFill>
              </a:rPr>
              <a:t>Te</a:t>
            </a:r>
            <a:r>
              <a:rPr lang="en-US" sz="2300" dirty="0">
                <a:solidFill>
                  <a:schemeClr val="tx1"/>
                </a:solidFill>
              </a:rPr>
              <a:t> n </a:t>
            </a:r>
            <a:r>
              <a:rPr lang="en-US" sz="2300" dirty="0" err="1">
                <a:solidFill>
                  <a:schemeClr val="tx1"/>
                </a:solidFill>
              </a:rPr>
              <a:t>pu</a:t>
            </a:r>
            <a:r>
              <a:rPr lang="en-US" sz="2300" dirty="0">
                <a:solidFill>
                  <a:schemeClr val="tx1"/>
                </a:solidFill>
              </a:rPr>
              <a:t> </a:t>
            </a:r>
            <a:r>
              <a:rPr lang="en-US" sz="2300" dirty="0" err="1">
                <a:solidFill>
                  <a:schemeClr val="tx1"/>
                </a:solidFill>
              </a:rPr>
              <a:t>ra</a:t>
            </a:r>
            <a:r>
              <a:rPr lang="en-US" sz="2300" dirty="0">
                <a:solidFill>
                  <a:schemeClr val="tx1"/>
                </a:solidFill>
              </a:rPr>
              <a:t> – </a:t>
            </a:r>
            <a:r>
              <a:rPr lang="ja-JP" altLang="en-US" sz="2300" dirty="0">
                <a:solidFill>
                  <a:schemeClr val="tx1"/>
                </a:solidFill>
              </a:rPr>
              <a:t>てんぷ</a:t>
            </a:r>
            <a:r>
              <a:rPr lang="ja-JP" altLang="en-US" sz="2300" dirty="0" smtClean="0">
                <a:solidFill>
                  <a:schemeClr val="tx1"/>
                </a:solidFill>
              </a:rPr>
              <a:t>ら </a:t>
            </a:r>
            <a:r>
              <a:rPr lang="en-IN" altLang="ja-JP" sz="2300" dirty="0" smtClean="0">
                <a:solidFill>
                  <a:schemeClr val="tx1"/>
                </a:solidFill>
              </a:rPr>
              <a:t>– Fried item</a:t>
            </a:r>
            <a:endParaRPr lang="ja-JP" altLang="en-US" sz="2300" dirty="0">
              <a:solidFill>
                <a:schemeClr val="tx1"/>
              </a:solidFill>
            </a:endParaRPr>
          </a:p>
          <a:p>
            <a:pPr algn="l"/>
            <a:endParaRPr lang="en-US" sz="23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4683731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24877"/>
          </a:xfrm>
        </p:spPr>
        <p:txBody>
          <a:bodyPr/>
          <a:lstStyle/>
          <a:p>
            <a:pPr algn="ctr"/>
            <a:r>
              <a:rPr lang="en-IN" sz="4800" dirty="0" smtClean="0"/>
              <a:t>Katakana – Chart 1</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
        <p:nvSpPr>
          <p:cNvPr id="5" name="Rectangle 4"/>
          <p:cNvSpPr/>
          <p:nvPr/>
        </p:nvSpPr>
        <p:spPr>
          <a:xfrm>
            <a:off x="2082188" y="1859340"/>
            <a:ext cx="7061812" cy="646331"/>
          </a:xfrm>
          <a:prstGeom prst="rect">
            <a:avLst/>
          </a:prstGeom>
        </p:spPr>
        <p:txBody>
          <a:bodyPr wrap="square">
            <a:spAutoFit/>
          </a:bodyPr>
          <a:lstStyle/>
          <a:p>
            <a:endParaRPr lang="ja-JP" altLang="en-US" dirty="0"/>
          </a:p>
          <a:p>
            <a:endParaRPr lang="ja-JP" altLang="en-US" dirty="0"/>
          </a:p>
        </p:txBody>
      </p:sp>
      <p:pic>
        <p:nvPicPr>
          <p:cNvPr id="6" name="Picture 5" descr="27 Downloadable Katakana Charts"/>
          <p:cNvPicPr/>
          <p:nvPr/>
        </p:nvPicPr>
        <p:blipFill>
          <a:blip r:embed="rId2">
            <a:extLst>
              <a:ext uri="{28A0092B-C50C-407E-A947-70E740481C1C}">
                <a14:useLocalDpi xmlns:a14="http://schemas.microsoft.com/office/drawing/2010/main" val="0"/>
              </a:ext>
            </a:extLst>
          </a:blip>
          <a:srcRect/>
          <a:stretch>
            <a:fillRect/>
          </a:stretch>
        </p:blipFill>
        <p:spPr bwMode="auto">
          <a:xfrm>
            <a:off x="1762699" y="1698625"/>
            <a:ext cx="7199056" cy="4199898"/>
          </a:xfrm>
          <a:prstGeom prst="rect">
            <a:avLst/>
          </a:prstGeom>
          <a:noFill/>
          <a:ln>
            <a:noFill/>
          </a:ln>
        </p:spPr>
      </p:pic>
    </p:spTree>
    <p:extLst>
      <p:ext uri="{BB962C8B-B14F-4D97-AF65-F5344CB8AC3E}">
        <p14:creationId xmlns:p14="http://schemas.microsoft.com/office/powerpoint/2010/main" val="25676590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24877"/>
          </a:xfrm>
        </p:spPr>
        <p:txBody>
          <a:bodyPr/>
          <a:lstStyle/>
          <a:p>
            <a:pPr algn="ctr"/>
            <a:r>
              <a:rPr lang="en-IN" sz="4800" dirty="0" smtClean="0"/>
              <a:t>Katakana – Chart 2</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
        <p:nvSpPr>
          <p:cNvPr id="5" name="Rectangle 4"/>
          <p:cNvSpPr/>
          <p:nvPr/>
        </p:nvSpPr>
        <p:spPr>
          <a:xfrm>
            <a:off x="2082188" y="1581623"/>
            <a:ext cx="7061812" cy="646331"/>
          </a:xfrm>
          <a:prstGeom prst="rect">
            <a:avLst/>
          </a:prstGeom>
        </p:spPr>
        <p:txBody>
          <a:bodyPr wrap="square">
            <a:spAutoFit/>
          </a:bodyPr>
          <a:lstStyle/>
          <a:p>
            <a:endParaRPr lang="ja-JP" altLang="en-US" dirty="0"/>
          </a:p>
          <a:p>
            <a:endParaRPr lang="ja-JP" altLang="en-US" dirty="0"/>
          </a:p>
        </p:txBody>
      </p:sp>
      <p:pic>
        <p:nvPicPr>
          <p:cNvPr id="6" name="Picture 5" descr="Katakana II :: Japanese Lessons | Hiragana, Lesson, Katakana ..."/>
          <p:cNvPicPr/>
          <p:nvPr/>
        </p:nvPicPr>
        <p:blipFill>
          <a:blip r:embed="rId2">
            <a:extLst>
              <a:ext uri="{28A0092B-C50C-407E-A947-70E740481C1C}">
                <a14:useLocalDpi xmlns:a14="http://schemas.microsoft.com/office/drawing/2010/main" val="0"/>
              </a:ext>
            </a:extLst>
          </a:blip>
          <a:srcRect/>
          <a:stretch>
            <a:fillRect/>
          </a:stretch>
        </p:blipFill>
        <p:spPr bwMode="auto">
          <a:xfrm>
            <a:off x="2082188" y="2143125"/>
            <a:ext cx="6395062" cy="3387342"/>
          </a:xfrm>
          <a:prstGeom prst="rect">
            <a:avLst/>
          </a:prstGeom>
          <a:noFill/>
          <a:ln>
            <a:noFill/>
          </a:ln>
        </p:spPr>
      </p:pic>
    </p:spTree>
    <p:extLst>
      <p:ext uri="{BB962C8B-B14F-4D97-AF65-F5344CB8AC3E}">
        <p14:creationId xmlns:p14="http://schemas.microsoft.com/office/powerpoint/2010/main" val="40549522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1008367"/>
          </a:xfrm>
        </p:spPr>
        <p:txBody>
          <a:bodyPr/>
          <a:lstStyle/>
          <a:p>
            <a:pPr algn="ctr"/>
            <a:r>
              <a:rPr lang="en-IN" sz="4800" dirty="0" smtClean="0"/>
              <a:t>Katakana – Chart 3</a:t>
            </a:r>
            <a:endParaRPr lang="en-IN" sz="4800" dirty="0"/>
          </a:p>
        </p:txBody>
      </p:sp>
      <p:sp>
        <p:nvSpPr>
          <p:cNvPr id="3" name="Subtitle 2"/>
          <p:cNvSpPr>
            <a:spLocks noGrp="1"/>
          </p:cNvSpPr>
          <p:nvPr>
            <p:ph type="subTitle" idx="1"/>
          </p:nvPr>
        </p:nvSpPr>
        <p:spPr>
          <a:xfrm>
            <a:off x="1262130" y="1468192"/>
            <a:ext cx="8011873" cy="4430331"/>
          </a:xfrm>
        </p:spPr>
        <p:txBody>
          <a:bodyPr>
            <a:normAutofit/>
          </a:bodyPr>
          <a:lstStyle/>
          <a:p>
            <a:pPr algn="l"/>
            <a:endParaRPr lang="en-US" sz="23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pic>
        <p:nvPicPr>
          <p:cNvPr id="4" name="Picture 3" descr="uchisen Preschool - Katakana Basics | uchisen - Learn Japanese Visually"/>
          <p:cNvPicPr/>
          <p:nvPr/>
        </p:nvPicPr>
        <p:blipFill>
          <a:blip r:embed="rId2">
            <a:extLst>
              <a:ext uri="{28A0092B-C50C-407E-A947-70E740481C1C}">
                <a14:useLocalDpi xmlns:a14="http://schemas.microsoft.com/office/drawing/2010/main" val="0"/>
              </a:ext>
            </a:extLst>
          </a:blip>
          <a:srcRect/>
          <a:stretch>
            <a:fillRect/>
          </a:stretch>
        </p:blipFill>
        <p:spPr bwMode="auto">
          <a:xfrm>
            <a:off x="2467779" y="1104900"/>
            <a:ext cx="6261884" cy="4987428"/>
          </a:xfrm>
          <a:prstGeom prst="rect">
            <a:avLst/>
          </a:prstGeom>
          <a:noFill/>
          <a:ln>
            <a:noFill/>
          </a:ln>
        </p:spPr>
      </p:pic>
    </p:spTree>
    <p:extLst>
      <p:ext uri="{BB962C8B-B14F-4D97-AF65-F5344CB8AC3E}">
        <p14:creationId xmlns:p14="http://schemas.microsoft.com/office/powerpoint/2010/main" val="394700520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66153" y="266641"/>
            <a:ext cx="8718759" cy="789427"/>
          </a:xfrm>
        </p:spPr>
        <p:txBody>
          <a:bodyPr/>
          <a:lstStyle/>
          <a:p>
            <a:pPr algn="ctr"/>
            <a:r>
              <a:rPr lang="en-IN" sz="4800" dirty="0" smtClean="0"/>
              <a:t>10 Nouns of Katakana</a:t>
            </a:r>
            <a:endParaRPr lang="en-IN" sz="4800" dirty="0"/>
          </a:p>
        </p:txBody>
      </p:sp>
      <p:sp>
        <p:nvSpPr>
          <p:cNvPr id="3" name="Subtitle 2"/>
          <p:cNvSpPr>
            <a:spLocks noGrp="1"/>
          </p:cNvSpPr>
          <p:nvPr>
            <p:ph type="subTitle" idx="1"/>
          </p:nvPr>
        </p:nvSpPr>
        <p:spPr>
          <a:xfrm>
            <a:off x="1262130" y="1197736"/>
            <a:ext cx="8011873" cy="5048518"/>
          </a:xfrm>
        </p:spPr>
        <p:txBody>
          <a:bodyPr>
            <a:normAutofit lnSpcReduction="10000"/>
          </a:bodyPr>
          <a:lstStyle/>
          <a:p>
            <a:pPr marL="342900" lvl="0" indent="-342900" algn="l">
              <a:lnSpc>
                <a:spcPct val="107000"/>
              </a:lnSpc>
              <a:buFont typeface="+mj-cs"/>
              <a:buAutoNum type="arabicDbPlain"/>
            </a:pPr>
            <a:r>
              <a:rPr lang="en-IN" sz="2400" dirty="0">
                <a:latin typeface="Calibri" panose="020F0502020204030204" pitchFamily="34" charset="0"/>
                <a:ea typeface="MS Mincho" panose="02020609040205080304" pitchFamily="49" charset="-128"/>
                <a:cs typeface="Times New Roman" panose="02020603050405020304" pitchFamily="18" charset="0"/>
              </a:rPr>
              <a:t>Pa n  -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パン　</a:t>
            </a:r>
            <a:r>
              <a:rPr lang="en-IN" sz="2400" dirty="0">
                <a:latin typeface="Calibri" panose="020F0502020204030204" pitchFamily="34" charset="0"/>
                <a:ea typeface="MS Mincho" panose="02020609040205080304" pitchFamily="49" charset="-128"/>
                <a:cs typeface="Times New Roman" panose="02020603050405020304" pitchFamily="18" charset="0"/>
              </a:rPr>
              <a:t>- Bread</a:t>
            </a:r>
          </a:p>
          <a:p>
            <a:pPr marL="342900" lvl="0" indent="-342900" algn="l">
              <a:lnSpc>
                <a:spcPct val="107000"/>
              </a:lnSpc>
              <a:buFont typeface="+mj-cs"/>
              <a:buAutoNum type="arabicDbPlain"/>
            </a:pPr>
            <a:r>
              <a:rPr lang="en-IN" sz="2400" dirty="0" err="1">
                <a:latin typeface="Calibri" panose="020F0502020204030204" pitchFamily="34" charset="0"/>
                <a:ea typeface="MS Mincho" panose="02020609040205080304" pitchFamily="49" charset="-128"/>
                <a:cs typeface="Times New Roman" panose="02020603050405020304" pitchFamily="18" charset="0"/>
              </a:rPr>
              <a:t>Te</a:t>
            </a:r>
            <a:r>
              <a:rPr lang="en-IN" sz="2400" dirty="0">
                <a:latin typeface="Calibri" panose="020F0502020204030204" pitchFamily="34" charset="0"/>
                <a:ea typeface="MS Mincho" panose="02020609040205080304" pitchFamily="49" charset="-128"/>
                <a:cs typeface="Times New Roman" panose="02020603050405020304" pitchFamily="18" charset="0"/>
              </a:rPr>
              <a:t>  re  bi -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テレビ </a:t>
            </a:r>
            <a:r>
              <a:rPr lang="en-IN" sz="2400" dirty="0">
                <a:latin typeface="Calibri" panose="020F0502020204030204" pitchFamily="34" charset="0"/>
                <a:ea typeface="MS Mincho" panose="02020609040205080304" pitchFamily="49" charset="-128"/>
                <a:cs typeface="Times New Roman" panose="02020603050405020304" pitchFamily="18" charset="0"/>
              </a:rPr>
              <a:t>- Television</a:t>
            </a:r>
          </a:p>
          <a:p>
            <a:pPr marL="342900" lvl="0" indent="-342900" algn="l">
              <a:lnSpc>
                <a:spcPct val="107000"/>
              </a:lnSpc>
              <a:buFont typeface="+mj-cs"/>
              <a:buAutoNum type="arabicDbPlain"/>
            </a:pPr>
            <a:r>
              <a:rPr lang="en-IN" sz="2400" dirty="0" err="1">
                <a:latin typeface="Calibri" panose="020F0502020204030204" pitchFamily="34" charset="0"/>
                <a:ea typeface="MS Mincho" panose="02020609040205080304" pitchFamily="49" charset="-128"/>
                <a:cs typeface="Times New Roman" panose="02020603050405020304" pitchFamily="18" charset="0"/>
              </a:rPr>
              <a:t>Ka</a:t>
            </a:r>
            <a:r>
              <a:rPr lang="en-IN" sz="2400" dirty="0">
                <a:latin typeface="Calibri" panose="020F0502020204030204" pitchFamily="34" charset="0"/>
                <a:ea typeface="MS Mincho" panose="02020609040205080304" pitchFamily="49" charset="-128"/>
                <a:cs typeface="Times New Roman" panose="02020603050405020304" pitchFamily="18" charset="0"/>
              </a:rPr>
              <a:t> me </a:t>
            </a:r>
            <a:r>
              <a:rPr lang="en-IN" sz="2400" dirty="0" err="1">
                <a:latin typeface="Calibri" panose="020F0502020204030204" pitchFamily="34" charset="0"/>
                <a:ea typeface="MS Mincho" panose="02020609040205080304" pitchFamily="49" charset="-128"/>
                <a:cs typeface="Times New Roman" panose="02020603050405020304" pitchFamily="18" charset="0"/>
              </a:rPr>
              <a:t>ra</a:t>
            </a:r>
            <a:r>
              <a:rPr lang="en-IN" sz="2400" dirty="0">
                <a:latin typeface="Calibri" panose="020F0502020204030204" pitchFamily="34" charset="0"/>
                <a:ea typeface="MS Mincho" panose="02020609040205080304" pitchFamily="49" charset="-128"/>
                <a:cs typeface="Times New Roman" panose="02020603050405020304" pitchFamily="18" charset="0"/>
              </a:rPr>
              <a:t> -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カメラ </a:t>
            </a:r>
            <a:r>
              <a:rPr lang="en-IN" sz="2400" dirty="0">
                <a:latin typeface="Calibri" panose="020F0502020204030204" pitchFamily="34" charset="0"/>
                <a:ea typeface="MS Mincho" panose="02020609040205080304" pitchFamily="49" charset="-128"/>
                <a:cs typeface="Times New Roman" panose="02020603050405020304" pitchFamily="18" charset="0"/>
              </a:rPr>
              <a:t>- Camera</a:t>
            </a:r>
          </a:p>
          <a:p>
            <a:pPr marL="342900" lvl="0" indent="-342900" algn="l">
              <a:lnSpc>
                <a:spcPct val="107000"/>
              </a:lnSpc>
              <a:buFont typeface="+mj-cs"/>
              <a:buAutoNum type="arabicDbPlain"/>
            </a:pPr>
            <a:r>
              <a:rPr lang="en-IN" sz="2400" dirty="0">
                <a:latin typeface="Calibri" panose="020F0502020204030204" pitchFamily="34" charset="0"/>
                <a:ea typeface="MS Mincho" panose="02020609040205080304" pitchFamily="49" charset="-128"/>
                <a:cs typeface="Times New Roman" panose="02020603050405020304" pitchFamily="18" charset="0"/>
              </a:rPr>
              <a:t>To </a:t>
            </a:r>
            <a:r>
              <a:rPr lang="en-IN" sz="2400" dirty="0" err="1">
                <a:latin typeface="Calibri" panose="020F0502020204030204" pitchFamily="34" charset="0"/>
                <a:ea typeface="MS Mincho" panose="02020609040205080304" pitchFamily="49" charset="-128"/>
                <a:cs typeface="Times New Roman" panose="02020603050405020304" pitchFamily="18" charset="0"/>
              </a:rPr>
              <a:t>i</a:t>
            </a:r>
            <a:r>
              <a:rPr lang="en-IN" sz="2400" dirty="0">
                <a:latin typeface="Calibri" panose="020F0502020204030204" pitchFamily="34" charset="0"/>
                <a:ea typeface="MS Mincho" panose="02020609040205080304" pitchFamily="49" charset="-128"/>
                <a:cs typeface="Times New Roman" panose="02020603050405020304" pitchFamily="18" charset="0"/>
              </a:rPr>
              <a:t> re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トイレ </a:t>
            </a:r>
            <a:r>
              <a:rPr lang="en-IN" sz="2400" dirty="0">
                <a:latin typeface="Calibri" panose="020F0502020204030204" pitchFamily="34" charset="0"/>
                <a:ea typeface="MS Mincho" panose="02020609040205080304" pitchFamily="49" charset="-128"/>
                <a:cs typeface="Times New Roman" panose="02020603050405020304" pitchFamily="18" charset="0"/>
              </a:rPr>
              <a:t>- Toilet</a:t>
            </a:r>
          </a:p>
          <a:p>
            <a:pPr marL="342900" lvl="0" indent="-342900" algn="l">
              <a:lnSpc>
                <a:spcPct val="107000"/>
              </a:lnSpc>
              <a:buFont typeface="+mj-cs"/>
              <a:buAutoNum type="arabicDbPlain"/>
            </a:pPr>
            <a:r>
              <a:rPr lang="en-IN" sz="2400" dirty="0">
                <a:latin typeface="Calibri" panose="020F0502020204030204" pitchFamily="34" charset="0"/>
                <a:ea typeface="MS Mincho" panose="02020609040205080304" pitchFamily="49" charset="-128"/>
                <a:cs typeface="Times New Roman" panose="02020603050405020304" pitchFamily="18" charset="0"/>
              </a:rPr>
              <a:t>So </a:t>
            </a:r>
            <a:r>
              <a:rPr lang="en-IN" sz="2400" dirty="0" err="1">
                <a:latin typeface="Calibri" panose="020F0502020204030204" pitchFamily="34" charset="0"/>
                <a:ea typeface="MS Mincho" panose="02020609040205080304" pitchFamily="49" charset="-128"/>
                <a:cs typeface="Times New Roman" panose="02020603050405020304" pitchFamily="18" charset="0"/>
              </a:rPr>
              <a:t>fa</a:t>
            </a:r>
            <a:r>
              <a:rPr lang="en-IN" sz="2400" dirty="0">
                <a:latin typeface="Calibri" panose="020F0502020204030204" pitchFamily="34" charset="0"/>
                <a:ea typeface="MS Mincho" panose="02020609040205080304" pitchFamily="49" charset="-128"/>
                <a:cs typeface="Times New Roman" panose="02020603050405020304" pitchFamily="18" charset="0"/>
              </a:rPr>
              <a:t> -</a:t>
            </a:r>
            <a:r>
              <a:rPr lang="ja-JP" altLang="en-US" sz="2400" dirty="0" smtClean="0">
                <a:latin typeface="Calibri" panose="020F0502020204030204" pitchFamily="34" charset="0"/>
                <a:ea typeface="MS Mincho" panose="02020609040205080304" pitchFamily="49" charset="-128"/>
                <a:cs typeface="Times New Roman" panose="02020603050405020304" pitchFamily="18" charset="0"/>
              </a:rPr>
              <a:t>ソ</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ファ</a:t>
            </a:r>
            <a:r>
              <a:rPr lang="ja-JP" altLang="en-US" sz="2400" dirty="0" smtClean="0">
                <a:latin typeface="Calibri" panose="020F0502020204030204" pitchFamily="34" charset="0"/>
                <a:ea typeface="MS Mincho" panose="02020609040205080304" pitchFamily="49" charset="-128"/>
                <a:cs typeface="Times New Roman" panose="02020603050405020304" pitchFamily="18" charset="0"/>
              </a:rPr>
              <a:t> </a:t>
            </a:r>
            <a:r>
              <a:rPr lang="en-IN" sz="2400" dirty="0">
                <a:latin typeface="Calibri" panose="020F0502020204030204" pitchFamily="34" charset="0"/>
                <a:ea typeface="MS Mincho" panose="02020609040205080304" pitchFamily="49" charset="-128"/>
                <a:cs typeface="Times New Roman" panose="02020603050405020304" pitchFamily="18" charset="0"/>
              </a:rPr>
              <a:t>- Sofa</a:t>
            </a:r>
          </a:p>
          <a:p>
            <a:pPr marL="342900" lvl="0" indent="-342900" algn="l">
              <a:lnSpc>
                <a:spcPct val="107000"/>
              </a:lnSpc>
              <a:buFont typeface="+mj-cs"/>
              <a:buAutoNum type="arabicDbPlain"/>
            </a:pPr>
            <a:r>
              <a:rPr lang="en-IN" sz="2400" dirty="0">
                <a:latin typeface="Calibri" panose="020F0502020204030204" pitchFamily="34" charset="0"/>
                <a:ea typeface="MS Mincho" panose="02020609040205080304" pitchFamily="49" charset="-128"/>
                <a:cs typeface="Times New Roman" panose="02020603050405020304" pitchFamily="18" charset="0"/>
              </a:rPr>
              <a:t>Be d do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ベッド </a:t>
            </a:r>
            <a:r>
              <a:rPr lang="en-IN" sz="2400" dirty="0">
                <a:latin typeface="Calibri" panose="020F0502020204030204" pitchFamily="34" charset="0"/>
                <a:ea typeface="MS Mincho" panose="02020609040205080304" pitchFamily="49" charset="-128"/>
                <a:cs typeface="Times New Roman" panose="02020603050405020304" pitchFamily="18" charset="0"/>
              </a:rPr>
              <a:t>- Bed</a:t>
            </a:r>
          </a:p>
          <a:p>
            <a:pPr marL="342900" lvl="0" indent="-342900" algn="l">
              <a:lnSpc>
                <a:spcPct val="107000"/>
              </a:lnSpc>
              <a:buFont typeface="+mj-cs"/>
              <a:buAutoNum type="arabicDbPlain"/>
            </a:pPr>
            <a:r>
              <a:rPr lang="en-IN" sz="2400" dirty="0" err="1">
                <a:latin typeface="Calibri" panose="020F0502020204030204" pitchFamily="34" charset="0"/>
                <a:ea typeface="MS Mincho" panose="02020609040205080304" pitchFamily="49" charset="-128"/>
                <a:cs typeface="Times New Roman" panose="02020603050405020304" pitchFamily="18" charset="0"/>
              </a:rPr>
              <a:t>Sha</a:t>
            </a:r>
            <a:r>
              <a:rPr lang="en-IN" sz="2400" dirty="0">
                <a:latin typeface="Calibri" panose="020F0502020204030204" pitchFamily="34" charset="0"/>
                <a:ea typeface="MS Mincho" panose="02020609040205080304" pitchFamily="49" charset="-128"/>
                <a:cs typeface="Times New Roman" panose="02020603050405020304" pitchFamily="18" charset="0"/>
              </a:rPr>
              <a:t> </a:t>
            </a:r>
            <a:r>
              <a:rPr lang="en-IN" sz="2400" dirty="0" err="1">
                <a:latin typeface="Calibri" panose="020F0502020204030204" pitchFamily="34" charset="0"/>
                <a:ea typeface="MS Mincho" panose="02020609040205080304" pitchFamily="49" charset="-128"/>
                <a:cs typeface="Times New Roman" panose="02020603050405020304" pitchFamily="18" charset="0"/>
              </a:rPr>
              <a:t>tsu</a:t>
            </a:r>
            <a:r>
              <a:rPr lang="en-IN" sz="2400" dirty="0">
                <a:latin typeface="Calibri" panose="020F0502020204030204" pitchFamily="34" charset="0"/>
                <a:ea typeface="MS Mincho" panose="02020609040205080304" pitchFamily="49" charset="-128"/>
                <a:cs typeface="Times New Roman" panose="02020603050405020304" pitchFamily="18" charset="0"/>
              </a:rPr>
              <a:t> -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シャツ </a:t>
            </a:r>
            <a:r>
              <a:rPr lang="en-IN" sz="2400" dirty="0">
                <a:latin typeface="Calibri" panose="020F0502020204030204" pitchFamily="34" charset="0"/>
                <a:ea typeface="MS Mincho" panose="02020609040205080304" pitchFamily="49" charset="-128"/>
                <a:cs typeface="Times New Roman" panose="02020603050405020304" pitchFamily="18" charset="0"/>
              </a:rPr>
              <a:t>- Shirt</a:t>
            </a:r>
          </a:p>
          <a:p>
            <a:pPr marL="342900" lvl="0" indent="-342900" algn="l">
              <a:lnSpc>
                <a:spcPct val="107000"/>
              </a:lnSpc>
              <a:buFont typeface="+mj-cs"/>
              <a:buAutoNum type="arabicDbPlain"/>
            </a:pPr>
            <a:r>
              <a:rPr lang="en-IN" sz="2400" dirty="0" err="1">
                <a:latin typeface="Calibri" panose="020F0502020204030204" pitchFamily="34" charset="0"/>
                <a:ea typeface="MS Mincho" panose="02020609040205080304" pitchFamily="49" charset="-128"/>
                <a:cs typeface="Times New Roman" panose="02020603050405020304" pitchFamily="18" charset="0"/>
              </a:rPr>
              <a:t>Ko</a:t>
            </a:r>
            <a:r>
              <a:rPr lang="en-IN" sz="2400" dirty="0">
                <a:latin typeface="Calibri" panose="020F0502020204030204" pitchFamily="34" charset="0"/>
                <a:ea typeface="MS Mincho" panose="02020609040205080304" pitchFamily="49" charset="-128"/>
                <a:cs typeface="Times New Roman" panose="02020603050405020304" pitchFamily="18" charset="0"/>
              </a:rPr>
              <a:t> o hi </a:t>
            </a:r>
            <a:r>
              <a:rPr lang="en-IN" sz="2400" dirty="0" err="1">
                <a:latin typeface="Calibri" panose="020F0502020204030204" pitchFamily="34" charset="0"/>
                <a:ea typeface="MS Mincho" panose="02020609040205080304" pitchFamily="49" charset="-128"/>
                <a:cs typeface="Times New Roman" panose="02020603050405020304" pitchFamily="18" charset="0"/>
              </a:rPr>
              <a:t>i</a:t>
            </a:r>
            <a:r>
              <a:rPr lang="en-IN" sz="2400" dirty="0">
                <a:latin typeface="Calibri" panose="020F0502020204030204" pitchFamily="34" charset="0"/>
                <a:ea typeface="MS Mincho" panose="02020609040205080304" pitchFamily="49" charset="-128"/>
                <a:cs typeface="Times New Roman" panose="02020603050405020304" pitchFamily="18" charset="0"/>
              </a:rPr>
              <a:t>-</a:t>
            </a:r>
            <a:r>
              <a:rPr lang="ja-JP" altLang="en-US" sz="2400" dirty="0" smtClean="0">
                <a:latin typeface="Calibri" panose="020F0502020204030204" pitchFamily="34" charset="0"/>
                <a:ea typeface="MS Mincho" panose="02020609040205080304" pitchFamily="49" charset="-128"/>
                <a:cs typeface="Times New Roman" panose="02020603050405020304" pitchFamily="18" charset="0"/>
              </a:rPr>
              <a:t>コ</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a:t>
            </a:r>
            <a:r>
              <a:rPr lang="ja-JP" altLang="en-US" sz="2400" dirty="0" smtClean="0">
                <a:latin typeface="Calibri" panose="020F0502020204030204" pitchFamily="34" charset="0"/>
                <a:ea typeface="MS Mincho" panose="02020609040205080304" pitchFamily="49" charset="-128"/>
                <a:cs typeface="Times New Roman" panose="02020603050405020304" pitchFamily="18" charset="0"/>
              </a:rPr>
              <a:t>ヒ</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a:t>
            </a:r>
            <a:r>
              <a:rPr lang="ja-JP" altLang="en-US" sz="2400" dirty="0" smtClean="0">
                <a:latin typeface="Calibri" panose="020F0502020204030204" pitchFamily="34" charset="0"/>
                <a:ea typeface="MS Mincho" panose="02020609040205080304" pitchFamily="49" charset="-128"/>
                <a:cs typeface="Times New Roman" panose="02020603050405020304" pitchFamily="18" charset="0"/>
              </a:rPr>
              <a:t> </a:t>
            </a:r>
            <a:r>
              <a:rPr lang="en-IN" sz="2400" dirty="0">
                <a:latin typeface="Calibri" panose="020F0502020204030204" pitchFamily="34" charset="0"/>
                <a:ea typeface="MS Mincho" panose="02020609040205080304" pitchFamily="49" charset="-128"/>
                <a:cs typeface="Times New Roman" panose="02020603050405020304" pitchFamily="18" charset="0"/>
              </a:rPr>
              <a:t>- Coffee</a:t>
            </a:r>
          </a:p>
          <a:p>
            <a:pPr marL="342900" lvl="0" indent="-342900" algn="l">
              <a:lnSpc>
                <a:spcPct val="107000"/>
              </a:lnSpc>
              <a:spcAft>
                <a:spcPts val="800"/>
              </a:spcAft>
              <a:buFont typeface="+mj-cs"/>
              <a:buAutoNum type="arabicDbPlain"/>
            </a:pPr>
            <a:r>
              <a:rPr lang="en-IN" sz="2400" dirty="0" err="1">
                <a:latin typeface="Calibri" panose="020F0502020204030204" pitchFamily="34" charset="0"/>
                <a:ea typeface="MS Mincho" panose="02020609040205080304" pitchFamily="49" charset="-128"/>
                <a:cs typeface="Times New Roman" panose="02020603050405020304" pitchFamily="18" charset="0"/>
              </a:rPr>
              <a:t>Ju</a:t>
            </a:r>
            <a:r>
              <a:rPr lang="en-IN" sz="2400" dirty="0">
                <a:latin typeface="Calibri" panose="020F0502020204030204" pitchFamily="34" charset="0"/>
                <a:ea typeface="MS Mincho" panose="02020609040205080304" pitchFamily="49" charset="-128"/>
                <a:cs typeface="Times New Roman" panose="02020603050405020304" pitchFamily="18" charset="0"/>
              </a:rPr>
              <a:t> u </a:t>
            </a:r>
            <a:r>
              <a:rPr lang="en-IN" sz="2400" dirty="0" err="1">
                <a:latin typeface="Calibri" panose="020F0502020204030204" pitchFamily="34" charset="0"/>
                <a:ea typeface="MS Mincho" panose="02020609040205080304" pitchFamily="49" charset="-128"/>
                <a:cs typeface="Times New Roman" panose="02020603050405020304" pitchFamily="18" charset="0"/>
              </a:rPr>
              <a:t>su</a:t>
            </a:r>
            <a:r>
              <a:rPr lang="en-IN" sz="2400" dirty="0">
                <a:latin typeface="Calibri" panose="020F0502020204030204" pitchFamily="34" charset="0"/>
                <a:ea typeface="MS Mincho" panose="02020609040205080304" pitchFamily="49" charset="-128"/>
                <a:cs typeface="Times New Roman" panose="02020603050405020304" pitchFamily="18" charset="0"/>
              </a:rPr>
              <a:t>- </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ジ</a:t>
            </a:r>
            <a:r>
              <a:rPr lang="ja-JP" altLang="en-US" sz="2400" dirty="0" smtClean="0">
                <a:latin typeface="Calibri" panose="020F0502020204030204" pitchFamily="34" charset="0"/>
                <a:ea typeface="MS Mincho" panose="02020609040205080304" pitchFamily="49" charset="-128"/>
                <a:cs typeface="Times New Roman" panose="02020603050405020304" pitchFamily="18" charset="0"/>
              </a:rPr>
              <a:t>ュ－ス </a:t>
            </a:r>
            <a:r>
              <a:rPr lang="en-IN" sz="2400" dirty="0">
                <a:latin typeface="Calibri" panose="020F0502020204030204" pitchFamily="34" charset="0"/>
                <a:ea typeface="MS Mincho" panose="02020609040205080304" pitchFamily="49" charset="-128"/>
                <a:cs typeface="Times New Roman" panose="02020603050405020304" pitchFamily="18" charset="0"/>
              </a:rPr>
              <a:t>– Juice </a:t>
            </a:r>
            <a:endParaRPr lang="en-IN" sz="2400" dirty="0" smtClean="0">
              <a:latin typeface="Calibri" panose="020F0502020204030204" pitchFamily="34" charset="0"/>
              <a:ea typeface="MS Mincho" panose="02020609040205080304" pitchFamily="49" charset="-128"/>
              <a:cs typeface="Times New Roman" panose="02020603050405020304" pitchFamily="18" charset="0"/>
            </a:endParaRPr>
          </a:p>
          <a:p>
            <a:pPr marL="342900" lvl="0" indent="-342900" algn="l">
              <a:lnSpc>
                <a:spcPct val="107000"/>
              </a:lnSpc>
              <a:spcAft>
                <a:spcPts val="800"/>
              </a:spcAft>
              <a:buFont typeface="+mj-cs"/>
              <a:buAutoNum type="arabicDbPlain"/>
            </a:pPr>
            <a:r>
              <a:rPr lang="en-IN" sz="2400" dirty="0" smtClean="0">
                <a:latin typeface="Calibri" panose="020F0502020204030204" pitchFamily="34" charset="0"/>
                <a:ea typeface="MS Mincho" panose="02020609040205080304" pitchFamily="49" charset="-128"/>
                <a:cs typeface="Times New Roman" panose="02020603050405020304" pitchFamily="18" charset="0"/>
              </a:rPr>
              <a:t>E </a:t>
            </a:r>
            <a:r>
              <a:rPr lang="en-IN" sz="2400" dirty="0">
                <a:latin typeface="Calibri" panose="020F0502020204030204" pitchFamily="34" charset="0"/>
                <a:ea typeface="MS Mincho" panose="02020609040205080304" pitchFamily="49" charset="-128"/>
                <a:cs typeface="Times New Roman" panose="02020603050405020304" pitchFamily="18" charset="0"/>
              </a:rPr>
              <a:t>a </a:t>
            </a:r>
            <a:r>
              <a:rPr lang="en-IN" sz="2400" dirty="0" err="1">
                <a:latin typeface="Calibri" panose="020F0502020204030204" pitchFamily="34" charset="0"/>
                <a:ea typeface="MS Mincho" panose="02020609040205080304" pitchFamily="49" charset="-128"/>
                <a:cs typeface="Times New Roman" panose="02020603050405020304" pitchFamily="18" charset="0"/>
              </a:rPr>
              <a:t>ko</a:t>
            </a:r>
            <a:r>
              <a:rPr lang="en-IN" sz="2400" dirty="0">
                <a:latin typeface="Calibri" panose="020F0502020204030204" pitchFamily="34" charset="0"/>
                <a:ea typeface="MS Mincho" panose="02020609040205080304" pitchFamily="49" charset="-128"/>
                <a:cs typeface="Times New Roman" panose="02020603050405020304" pitchFamily="18" charset="0"/>
              </a:rPr>
              <a:t> n</a:t>
            </a:r>
            <a:r>
              <a:rPr lang="ja-JP" altLang="en-US" sz="2400" dirty="0">
                <a:latin typeface="Calibri" panose="020F0502020204030204" pitchFamily="34" charset="0"/>
                <a:ea typeface="MS Mincho" panose="02020609040205080304" pitchFamily="49" charset="-128"/>
                <a:cs typeface="Times New Roman" panose="02020603050405020304" pitchFamily="18" charset="0"/>
              </a:rPr>
              <a:t>エアコン</a:t>
            </a:r>
            <a:r>
              <a:rPr lang="en-IN" sz="2400" dirty="0">
                <a:latin typeface="Calibri" panose="020F0502020204030204" pitchFamily="34" charset="0"/>
                <a:ea typeface="MS Mincho" panose="02020609040205080304" pitchFamily="49" charset="-128"/>
                <a:cs typeface="Times New Roman" panose="02020603050405020304" pitchFamily="18" charset="0"/>
              </a:rPr>
              <a:t>- Air conditioner</a:t>
            </a:r>
          </a:p>
          <a:p>
            <a:pPr algn="l"/>
            <a:endParaRPr lang="en-US" sz="2400" dirty="0" smtClean="0">
              <a:solidFill>
                <a:schemeClr val="tx1"/>
              </a:solidFill>
            </a:endParaRPr>
          </a:p>
          <a:p>
            <a:pPr marL="285750" indent="-285750" algn="l">
              <a:buFont typeface="Arial" panose="020B0604020202020204" pitchFamily="34" charset="0"/>
              <a:buChar char="•"/>
            </a:pPr>
            <a:endParaRPr lang="en-US" sz="2400" dirty="0">
              <a:solidFill>
                <a:schemeClr val="tx1"/>
              </a:solidFill>
            </a:endParaRPr>
          </a:p>
          <a:p>
            <a:pPr marL="285750" indent="-285750" algn="l">
              <a:buFont typeface="Arial" panose="020B0604020202020204" pitchFamily="34" charset="0"/>
              <a:buChar char="•"/>
            </a:pPr>
            <a:endParaRPr lang="en-US" sz="2300"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US" dirty="0" smtClean="0">
              <a:solidFill>
                <a:schemeClr val="tx1"/>
              </a:solidFill>
            </a:endParaRPr>
          </a:p>
          <a:p>
            <a:pPr marL="285750" indent="-285750" algn="l">
              <a:buFont typeface="Arial" panose="020B0604020202020204" pitchFamily="34" charset="0"/>
              <a:buChar char="•"/>
            </a:pPr>
            <a:endParaRPr lang="en-IN" dirty="0">
              <a:solidFill>
                <a:schemeClr val="tx1"/>
              </a:solidFill>
            </a:endParaRPr>
          </a:p>
        </p:txBody>
      </p:sp>
    </p:spTree>
    <p:extLst>
      <p:ext uri="{BB962C8B-B14F-4D97-AF65-F5344CB8AC3E}">
        <p14:creationId xmlns:p14="http://schemas.microsoft.com/office/powerpoint/2010/main" val="202730113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691</TotalTime>
  <Words>339</Words>
  <Application>Microsoft Office PowerPoint</Application>
  <PresentationFormat>Widescreen</PresentationFormat>
  <Paragraphs>99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Libre Franklin</vt:lpstr>
      <vt:lpstr>メイリオ</vt:lpstr>
      <vt:lpstr>MS Mincho</vt:lpstr>
      <vt:lpstr>Arial</vt:lpstr>
      <vt:lpstr>Calibri</vt:lpstr>
      <vt:lpstr>Times New Roman</vt:lpstr>
      <vt:lpstr>Trebuchet MS</vt:lpstr>
      <vt:lpstr>Wingdings 3</vt:lpstr>
      <vt:lpstr>Facet</vt:lpstr>
      <vt:lpstr>MODULE 1</vt:lpstr>
      <vt:lpstr>JAPANESE CHARACTERS</vt:lpstr>
      <vt:lpstr>  ORIGIN OF KANJI</vt:lpstr>
      <vt:lpstr>  ORIGIN OF KANJI</vt:lpstr>
      <vt:lpstr>ORIGIN OF KANJI</vt:lpstr>
      <vt:lpstr>漢字（かんじ）</vt:lpstr>
      <vt:lpstr>Hiragana- Chart 1</vt:lpstr>
      <vt:lpstr>Hiragana- Chart 2 (Dakuten Chart)</vt:lpstr>
      <vt:lpstr>Hiragana- Chart 3</vt:lpstr>
      <vt:lpstr>20 Nouns of Hiragana</vt:lpstr>
      <vt:lpstr>20 Nouns of Hiragana</vt:lpstr>
      <vt:lpstr>Katakana – Chart 1</vt:lpstr>
      <vt:lpstr>Katakana – Chart 2</vt:lpstr>
      <vt:lpstr>Katakana – Chart 3</vt:lpstr>
      <vt:lpstr>10 Nouns of Katakana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AISATSU (GREETINGS )</dc:title>
  <dc:creator>Jayashree</dc:creator>
  <cp:lastModifiedBy>Microsoft account</cp:lastModifiedBy>
  <cp:revision>80</cp:revision>
  <dcterms:created xsi:type="dcterms:W3CDTF">2022-08-10T08:37:46Z</dcterms:created>
  <dcterms:modified xsi:type="dcterms:W3CDTF">2025-07-31T06:09:18Z</dcterms:modified>
</cp:coreProperties>
</file>